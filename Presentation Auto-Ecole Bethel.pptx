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381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FFFFFF"/>
                </a:solidFill>
                <a:latin typeface="Segoe UI"/>
              </a:rPr>
              <a:t>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Auto-École Béthel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66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8922A"/>
                </a:solidFill>
                <a:latin typeface="Segoe UI"/>
              </a:rPr>
              <a:t>Application de gestion, de traçabilité et de contrôle financier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6C4D6"/>
                </a:solidFill>
                <a:latin typeface="Segoe UI"/>
              </a:rPr>
              <a:t>Lambaréné · Gabon</a:t>
            </a:r>
          </a:p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A9BB2"/>
                </a:solidFill>
                <a:latin typeface="Segoe UI"/>
              </a:rPr>
              <a:t>auto-ecole-bethel.onrender.com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Le besoin : gérer une auto-école et sécuriser ses recettes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C8922A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Beaucoup de liquide. </a:t>
            </a:r>
            <a:r>
              <a:rPr sz="1500" b="0">
                <a:solidFill>
                  <a:srgbClr val="64748B"/>
                </a:solidFill>
                <a:latin typeface="Segoe UI"/>
              </a:rPr>
              <a:t>Inscriptions, leçons et examens sont réglés en grande partie en espèces, au guichet.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C8922A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Peu de visibilité. </a:t>
            </a:r>
            <a:r>
              <a:rPr sz="1500" b="0">
                <a:solidFill>
                  <a:srgbClr val="64748B"/>
                </a:solidFill>
                <a:latin typeface="Segoe UI"/>
              </a:rPr>
              <a:t>Difficile de savoir qui a payé quoi, qui reste devoir, et quel agent a encaissé.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C8922A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Risque de fuites. </a:t>
            </a:r>
            <a:r>
              <a:rPr sz="1500" b="0">
                <a:solidFill>
                  <a:srgbClr val="64748B"/>
                </a:solidFill>
                <a:latin typeface="Segoe UI"/>
              </a:rPr>
              <a:t>Argent encaissé mais non enregistré, reçus manuels, aucune trace des actions.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C8922A"/>
                </a:solidFill>
                <a:latin typeface="Segoe UI"/>
              </a:rPr>
              <a:t>—  </a:t>
            </a:r>
            <a:r>
              <a:rPr sz="1500" b="1">
                <a:solidFill>
                  <a:srgbClr val="0F172A"/>
                </a:solidFill>
                <a:latin typeface="Segoe UI"/>
              </a:rPr>
              <a:t>Gestion dispersée. </a:t>
            </a:r>
            <a:r>
              <a:rPr sz="1500" b="0">
                <a:solidFill>
                  <a:srgbClr val="64748B"/>
                </a:solidFill>
                <a:latin typeface="Segoe UI"/>
              </a:rPr>
              <a:t>Élèves, moniteurs, véhicules, plannings et paiements suivis sur papier ou tableurs.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37360"/>
            <a:ext cx="4937760" cy="4023360"/>
          </a:xfrm>
          <a:prstGeom prst="roundRect">
            <a:avLst>
              <a:gd name="adj" fmla="val 500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05740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C8922A"/>
                </a:solidFill>
                <a:latin typeface="Segoe UI"/>
              </a:rPr>
              <a:t>Le point aveugle</a:t>
            </a:r>
          </a:p>
          <a:p>
            <a:pPr algn="l">
              <a:lnSpc>
                <a:spcPct val="110000"/>
              </a:lnSpc>
            </a:pPr>
            <a:r>
              <a:rPr sz="6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FFFFFF"/>
                </a:solidFill>
                <a:latin typeface="Segoe UI"/>
              </a:rPr>
              <a:t>« L’argent ne manque nulle part dans le système…</a:t>
            </a:r>
          </a:p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FFFFFF"/>
                </a:solidFill>
                <a:latin typeface="Segoe UI"/>
              </a:rPr>
              <a:t>parce qu’il n’est jamais entré dans le système. »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6C4D6"/>
                </a:solidFill>
                <a:latin typeface="Segoe UI"/>
              </a:rPr>
              <a:t>L’objectif du projet : rendre chaque franc traçable et chaque action attribuable.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Une application web unique, accessible au bureau et au téléphone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00784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🎓  Élèves &amp; dossiers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Fiche complète, historique, forfait convenu, WhatsApp intégré.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00784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📅  Leçons &amp; planning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Réservation avec détection automatique des conflits de créneau.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00784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💳  Paiements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Espèces au guichet + Mobile Money (Airtel / Moov) en ligne.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19272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319272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465576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🧾  Caisse &amp; traçabilité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Reçus numérotés, journal d’audit, clôture de caisse quotidienne.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319272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3319272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465576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🏁  Examens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Suivi code / permis, taux de réussite par moniteur.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319272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3319272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3465576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📊  Tableau de bord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Chiffre d’affaires, impayés, alertes, indicateurs en direct.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VITRINE PUBLIQUE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Une page d’accueil pour attirer et capter les prospects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532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5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Bannière d’accroche. </a:t>
            </a:r>
            <a:r>
              <a:rPr sz="1450" b="0">
                <a:solidFill>
                  <a:srgbClr val="64748B"/>
                </a:solidFill>
                <a:latin typeface="Segoe UI"/>
              </a:rPr>
              <a:t>Message clair, appel à l’action « Je me pré-inscris ».</a:t>
            </a:r>
          </a:p>
          <a:p>
            <a:pPr>
              <a:lnSpc>
                <a:spcPct val="105000"/>
              </a:lnSpc>
              <a:spcAft>
                <a:spcPts val="95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Forfaits chiffrés. </a:t>
            </a:r>
            <a:r>
              <a:rPr sz="1450" b="0">
                <a:solidFill>
                  <a:srgbClr val="64748B"/>
                </a:solidFill>
                <a:latin typeface="Segoe UI"/>
              </a:rPr>
              <a:t>Inscription, Code, Conduite et Permis complet, tarifs affichés.</a:t>
            </a:r>
          </a:p>
          <a:p>
            <a:pPr>
              <a:lnSpc>
                <a:spcPct val="105000"/>
              </a:lnSpc>
              <a:spcAft>
                <a:spcPts val="95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Pourquoi nous choisir. </a:t>
            </a:r>
            <a:r>
              <a:rPr sz="1450" b="0">
                <a:solidFill>
                  <a:srgbClr val="64748B"/>
                </a:solidFill>
                <a:latin typeface="Segoe UI"/>
              </a:rPr>
              <a:t>Moniteurs agréés, véhicules entretenus, suivi, transparence.</a:t>
            </a:r>
          </a:p>
          <a:p>
            <a:pPr>
              <a:lnSpc>
                <a:spcPct val="105000"/>
              </a:lnSpc>
              <a:spcAft>
                <a:spcPts val="95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Comment ça marche. </a:t>
            </a:r>
            <a:r>
              <a:rPr sz="1450" b="0">
                <a:solidFill>
                  <a:srgbClr val="64748B"/>
                </a:solidFill>
                <a:latin typeface="Segoe UI"/>
              </a:rPr>
              <a:t>Le parcours en 4 étapes, de la demande à l’examen.</a:t>
            </a:r>
          </a:p>
          <a:p>
            <a:pPr>
              <a:lnSpc>
                <a:spcPct val="105000"/>
              </a:lnSpc>
              <a:spcAft>
                <a:spcPts val="95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Formulaire de pré-inscription. </a:t>
            </a:r>
            <a:r>
              <a:rPr sz="1450" b="0">
                <a:solidFill>
                  <a:srgbClr val="64748B"/>
                </a:solidFill>
                <a:latin typeface="Segoe UI"/>
              </a:rPr>
              <a:t>Prénom, téléphone, forfait souhaité, message.</a:t>
            </a:r>
          </a:p>
          <a:p>
            <a:pPr>
              <a:lnSpc>
                <a:spcPct val="105000"/>
              </a:lnSpc>
              <a:spcAft>
                <a:spcPts val="95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WhatsApp intégré. </a:t>
            </a:r>
            <a:r>
              <a:rPr sz="1450" b="0">
                <a:solidFill>
                  <a:srgbClr val="64748B"/>
                </a:solidFill>
                <a:latin typeface="Segoe UI"/>
              </a:rPr>
              <a:t>Bouton flottant + contact direct pré-rempli.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1051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🚗  Auto-École Béthel · Lambaréné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76272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Passez votre permis en toute confiance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670048"/>
            <a:ext cx="1371600" cy="256032"/>
          </a:xfrm>
          <a:prstGeom prst="roundRect">
            <a:avLst>
              <a:gd name="adj" fmla="val 30000"/>
            </a:avLst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269748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203A"/>
                </a:solidFill>
                <a:latin typeface="Segoe UI"/>
              </a:rPr>
              <a:t>Je m’inscris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246120"/>
            <a:ext cx="1051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39242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E3A5F"/>
                </a:solidFill>
                <a:latin typeface="Segoe UI"/>
              </a:rPr>
              <a:t>Inscr.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2160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50k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3246120"/>
            <a:ext cx="1051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339242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E3A5F"/>
                </a:solidFill>
                <a:latin typeface="Segoe UI"/>
              </a:rP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72160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75k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246120"/>
            <a:ext cx="1051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39242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E3A5F"/>
                </a:solidFill>
                <a:latin typeface="Segoe UI"/>
              </a:rPr>
              <a:t>Conduite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72160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150k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3246120"/>
            <a:ext cx="1051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339242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E3A5F"/>
                </a:solidFill>
                <a:latin typeface="Segoe UI"/>
              </a:rPr>
              <a:t>Permis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372160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250k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4389120"/>
            <a:ext cx="4480560" cy="109728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44988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8922A"/>
                </a:solidFill>
                <a:latin typeface="Segoe UI"/>
              </a:rPr>
              <a:t>Pré-inscription en ligne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484632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98280" y="484632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49440" y="521208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523951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0203A"/>
                </a:solidFill>
                <a:latin typeface="Segoe UI"/>
              </a:rPr>
              <a:t>Envoyer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DU PROSPECT À L’ÉLÈVE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Chaque demande devient une opportunité suivie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76272"/>
            <a:ext cx="640080" cy="640080"/>
          </a:xfrm>
          <a:prstGeom prst="ellipse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F172A"/>
                </a:solidFill>
                <a:latin typeface="Segoe UI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3A5F"/>
                </a:solidFill>
                <a:latin typeface="Segoe UI"/>
              </a:rPr>
              <a:t>Le visiteur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776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remplit le formulaire sur la page d’accueil publique.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063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8922A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192024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21608" y="2176272"/>
            <a:ext cx="640080" cy="640080"/>
          </a:xfrm>
          <a:prstGeom prst="ellipse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3042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F172A"/>
                </a:solidFill>
                <a:latin typeface="Segoe UI"/>
              </a:rPr>
              <a:t>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6118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3A5F"/>
                </a:solidFill>
                <a:latin typeface="Segoe UI"/>
              </a:rPr>
              <a:t>La demande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9776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arrive automatiquement dans l’espace « Prospects » de l’admin.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63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8922A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192024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74536" y="2176272"/>
            <a:ext cx="640080" cy="640080"/>
          </a:xfrm>
          <a:prstGeom prst="ellipse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4536" y="23042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F172A"/>
                </a:solidFill>
                <a:latin typeface="Segoe UI"/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6118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3A5F"/>
                </a:solidFill>
                <a:latin typeface="Segoe UI"/>
              </a:rPr>
              <a:t>L’équipe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9776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rappelle le prospect (WhatsApp intégré) et met à jour son statut.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3063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8922A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98864" y="192024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27464" y="2176272"/>
            <a:ext cx="640080" cy="64008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27464" y="23042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7464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F172A"/>
                </a:solidFill>
                <a:latin typeface="Segoe UI"/>
              </a:rPr>
              <a:t>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36118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3A5F"/>
                </a:solidFill>
                <a:latin typeface="Segoe UI"/>
              </a:rPr>
              <a:t>En un clic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39776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le prospect est converti en élève : sa fiche est créée.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74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1">
                <a:solidFill>
                  <a:srgbClr val="0F172A"/>
                </a:solidFill>
                <a:latin typeface="Segoe UI"/>
              </a:rPr>
              <a:t>Aucune demande n’est perdue : le formulaire public alimente directement le fichier commercial de l’école.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Une base technique légère, robuste et sans coût de licence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Node.js + Express. </a:t>
            </a:r>
            <a:r>
              <a:rPr sz="1450" b="0">
                <a:solidFill>
                  <a:srgbClr val="64748B"/>
                </a:solidFill>
                <a:latin typeface="Segoe UI"/>
              </a:rPr>
              <a:t>Serveur web moderne, code source 100 % maîtrisé.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Base SQLite intégrée. </a:t>
            </a:r>
            <a:r>
              <a:rPr sz="1450" b="0">
                <a:solidFill>
                  <a:srgbClr val="64748B"/>
                </a:solidFill>
                <a:latin typeface="Segoe UI"/>
              </a:rPr>
              <a:t>Aucune base externe à administrer ni à payer.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Interface web responsive. </a:t>
            </a:r>
            <a:r>
              <a:rPr sz="1450" b="0">
                <a:solidFill>
                  <a:srgbClr val="64748B"/>
                </a:solidFill>
                <a:latin typeface="Segoe UI"/>
              </a:rPr>
              <a:t>S’ouvre dans un navigateur, sur ordinateur comme sur mobile.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Sécurité maison. </a:t>
            </a:r>
            <a:r>
              <a:rPr sz="1450" b="0">
                <a:solidFill>
                  <a:srgbClr val="64748B"/>
                </a:solidFill>
                <a:latin typeface="Segoe UI"/>
              </a:rPr>
              <a:t>Connexion par jeton (JWT) et mots de passe chiffrés (scrypt).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Zéro dépendance lourde. </a:t>
            </a:r>
            <a:r>
              <a:rPr sz="1450" b="0">
                <a:solidFill>
                  <a:srgbClr val="64748B"/>
                </a:solidFill>
                <a:latin typeface="Segoe UI"/>
              </a:rPr>
              <a:t>Rapide à déployer, facile à maintenir.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Hébergement cloud. </a:t>
            </a:r>
            <a:r>
              <a:rPr sz="1450" b="0">
                <a:solidFill>
                  <a:srgbClr val="64748B"/>
                </a:solidFill>
                <a:latin typeface="Segoe UI"/>
              </a:rPr>
              <a:t>En ligne 24/7 sur Render, mises à jour automatiques par Git.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37360"/>
            <a:ext cx="4846320" cy="3931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965960"/>
            <a:ext cx="4297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3A5F"/>
                </a:solidFill>
                <a:latin typeface="Segoe UI"/>
              </a:rPr>
              <a:t>Chaîne de valeur</a:t>
            </a:r>
          </a:p>
          <a:p>
            <a:pPr algn="l">
              <a:lnSpc>
                <a:spcPct val="105000"/>
              </a:lnSpc>
            </a:pPr>
            <a:r>
              <a:rPr sz="6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Navigateur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↓  interface Tailwind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API Express (Node.js)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↓  règles métier + audit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Segoe UI"/>
              </a:rPr>
              <a:t>Base SQLite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↓  archivage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E9F6E"/>
                </a:solidFill>
                <a:latin typeface="Segoe UI"/>
              </a:rPr>
              <a:t>Paiement E-Billing / SHAP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Mobile Money Airtel + Moov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ENCAISSEMENT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Deux canaux de paiement, un seul registre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82296" cy="182880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37944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💵  Paiement au guichet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Espèces ou Mobile Money encaissés sur place. Enregistré en un clic, avec reçu imprimable numéroté.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82296" cy="18288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849624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📲  Mobile Money en ligne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Demande de paiement poussée directement sur le téléphone de l’élève (Airtel / Moov) via E-Billing.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257800" cy="3840480"/>
          </a:xfrm>
          <a:prstGeom prst="roundRect">
            <a:avLst>
              <a:gd name="adj" fmla="val 500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6634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C8922A"/>
                </a:solidFill>
                <a:latin typeface="Segoe UI"/>
              </a:rPr>
              <a:t>Toujours vérifié côté serveur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Le statut « payé » n’est jamais accordé sur la seule confirmation reçue : le serveur revérifie chaque transaction auprès de l’opérateur.</a:t>
            </a:r>
          </a:p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B6C4D6"/>
                </a:solidFill>
                <a:latin typeface="Segoe UI"/>
              </a:rPr>
              <a:t>Chaque paiement confirmé reçoit automatiquement son numéro de reçu et son encaisseur.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8922A"/>
                </a:solidFill>
                <a:latin typeface="Segoe UI"/>
              </a:rPr>
              <a:t>LE CŒUR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🔒  Traçabilité &amp; lutte contre les détournements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200400" cy="381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🕵️  Journal d’audit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B6C4D6"/>
                </a:solidFill>
                <a:latin typeface="Segoe UI"/>
              </a:rPr>
              <a:t>Trace immuable de chaque action sensible : qui, quoi,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214884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33172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🧾  Reçus numérotés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B6C4D6"/>
                </a:solidFill>
                <a:latin typeface="Segoe UI"/>
              </a:rPr>
              <a:t>Séquence continue : un trou = un encaissement manquant.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14884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233172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👤  Encaisseur nominatif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B6C4D6"/>
                </a:solidFill>
                <a:latin typeface="Segoe UI"/>
              </a:rPr>
              <a:t>Chaque paiement porte le nom de l’agent qui l’a saisi.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💰  Clôture de caisse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B6C4D6"/>
                </a:solidFill>
                <a:latin typeface="Segoe UI"/>
              </a:rPr>
              <a:t>Cash théorique vs. cash compté → l’écart saute aux yeux.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40233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20624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📝  Contrat pédagogique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B6C4D6"/>
                </a:solidFill>
                <a:latin typeface="Segoe UI"/>
              </a:rPr>
              <a:t>Forfait dû − payé = solde : révèle l’argent jamais entré.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4023360"/>
            <a:ext cx="3520440" cy="1691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420624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🚫  Annulation tracée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B6C4D6"/>
                </a:solidFill>
                <a:latin typeface="Segoe UI"/>
              </a:rPr>
              <a:t>On annule avec motif, jamais on ne supprime.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TRAÇABILITÉ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Journal d’audit &amp; reçus infalsifiables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Chaque action est enregistrée. </a:t>
            </a:r>
            <a:r>
              <a:rPr sz="1450" b="0">
                <a:solidFill>
                  <a:srgbClr val="64748B"/>
                </a:solidFill>
                <a:latin typeface="Segoe UI"/>
              </a:rPr>
              <a:t>Paiement, annulation, clôture, suppression, modification d’un forfait.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Auteur identifié. </a:t>
            </a:r>
            <a:r>
              <a:rPr sz="1450" b="0">
                <a:solidFill>
                  <a:srgbClr val="64748B"/>
                </a:solidFill>
                <a:latin typeface="Segoe UI"/>
              </a:rPr>
              <a:t>Nom, rôle, date, heure et adresse IP conservés.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Registre en lecture seule. </a:t>
            </a:r>
            <a:r>
              <a:rPr sz="1450" b="0">
                <a:solidFill>
                  <a:srgbClr val="64748B"/>
                </a:solidFill>
                <a:latin typeface="Segoe UI"/>
              </a:rPr>
              <a:t>Consultable dans l’onglet « Journal », réservé à l’administration.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Reçus à numéro continu. </a:t>
            </a:r>
            <a:r>
              <a:rPr sz="1450" b="0">
                <a:solidFill>
                  <a:srgbClr val="64748B"/>
                </a:solidFill>
                <a:latin typeface="Segoe UI"/>
              </a:rPr>
              <a:t>Comme un carnet à souches : impossible de faire disparaître un reçu sans laisser un trou visible.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Nom de l’encaisseur. </a:t>
            </a:r>
            <a:r>
              <a:rPr sz="1450" b="0">
                <a:solidFill>
                  <a:srgbClr val="64748B"/>
                </a:solidFill>
                <a:latin typeface="Segoe UI"/>
              </a:rPr>
              <a:t>Imprimé sur le reçu et affiché dans la liste des paiements.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37360"/>
            <a:ext cx="4937760" cy="4023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9659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5F"/>
                </a:solidFill>
                <a:latin typeface="Segoe UI"/>
              </a:rPr>
              <a:t>Exemple de journal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514600"/>
            <a:ext cx="438912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615184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💳 Paiement enregistré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61518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Segoe UI"/>
              </a:rPr>
              <a:t>Administrateur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118104"/>
            <a:ext cx="438912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321868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✅ Paiement confirmé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2186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Segoe UI"/>
              </a:rPr>
              <a:t>système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721608"/>
            <a:ext cx="438912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82219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🧾 Clôture de caisse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82219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Segoe UI"/>
              </a:rPr>
              <a:t>Administrateur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325112"/>
            <a:ext cx="438912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42569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🚫 Paiement annulé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42569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Segoe UI"/>
              </a:rPr>
              <a:t>Administrateur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4928616"/>
            <a:ext cx="438912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50292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🗑️ Élève supprimé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02920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1">
                <a:solidFill>
                  <a:srgbClr val="64748B"/>
                </a:solidFill>
                <a:latin typeface="Segoe UI"/>
              </a:rPr>
              <a:t>Administrateur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TRAÇABILITÉ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Clôture de caisse : le rapprochement quotidien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En fin de journée, </a:t>
            </a:r>
            <a:r>
              <a:rPr sz="1450" b="0">
                <a:solidFill>
                  <a:srgbClr val="64748B"/>
                </a:solidFill>
                <a:latin typeface="Segoe UI"/>
              </a:rPr>
              <a:t>l’agent compte les espèces réellement en caisse.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L’application affiche </a:t>
            </a:r>
            <a:r>
              <a:rPr sz="1450" b="0">
                <a:solidFill>
                  <a:srgbClr val="64748B"/>
                </a:solidFill>
                <a:latin typeface="Segoe UI"/>
              </a:rPr>
              <a:t>le total théorique des encaissements espèces du jour.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L’écart est calculé </a:t>
            </a:r>
            <a:r>
              <a:rPr sz="1450" b="0">
                <a:solidFill>
                  <a:srgbClr val="64748B"/>
                </a:solidFill>
                <a:latin typeface="Segoe UI"/>
              </a:rPr>
              <a:t>automatiquement et mis en évidence.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Écart nul → </a:t>
            </a:r>
            <a:r>
              <a:rPr sz="1450" b="0">
                <a:solidFill>
                  <a:srgbClr val="64748B"/>
                </a:solidFill>
                <a:latin typeface="Segoe UI"/>
              </a:rPr>
              <a:t>caisse juste ✓.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Écart négatif → </a:t>
            </a:r>
            <a:r>
              <a:rPr sz="1450" b="0">
                <a:solidFill>
                  <a:srgbClr val="64748B"/>
                </a:solidFill>
                <a:latin typeface="Segoe UI"/>
              </a:rPr>
              <a:t>alerte immédiate, à justifier.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Historique conservé </a:t>
            </a:r>
            <a:r>
              <a:rPr sz="1450" b="0">
                <a:solidFill>
                  <a:srgbClr val="64748B"/>
                </a:solidFill>
                <a:latin typeface="Segoe UI"/>
              </a:rPr>
              <a:t>sur 90 jours, avec le nom du responsable.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83080"/>
            <a:ext cx="484632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1783080"/>
            <a:ext cx="4846320" cy="64008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9293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Clôture de caisse — aujourd’hui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Espèces théoriques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7432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265 000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383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Caisse comptée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3832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260 000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4023360"/>
            <a:ext cx="420624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Écart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25196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DC2626"/>
                </a:solidFill>
                <a:latin typeface="Segoe UI"/>
              </a:rPr>
              <a:t>− 5 000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8463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DC2626"/>
                </a:solidFill>
                <a:latin typeface="Segoe UI"/>
              </a:rPr>
              <a:t>⚠ Manque à justifier — tracé au journal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RECOUVREMENT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Contrat pédagogique : le solde qui démasque les fuites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F172A"/>
                </a:solidFill>
                <a:latin typeface="Segoe UI"/>
              </a:rPr>
              <a:t>À l’inscription, on saisit le forfait convenu. L’application calcule en permanence 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E3A5F"/>
                </a:solidFill>
                <a:latin typeface="Segoe UI"/>
              </a:rPr>
              <a:t>Solde restant   =   Forfait convenu   −   Paiements réellement encaissés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10881360" cy="45720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Élève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3375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Forfait dû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3375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Payé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3375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1304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OBAME Grâce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81304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250 000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8130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E9F6E"/>
                </a:solidFill>
                <a:latin typeface="Segoe UI"/>
              </a:rPr>
              <a:t>250 000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813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F6E"/>
                </a:solidFill>
                <a:latin typeface="Segoe UI"/>
              </a:rPr>
              <a:t>Soldé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06240"/>
            <a:ext cx="10881360" cy="502920"/>
          </a:xfrm>
          <a:prstGeom prst="rect">
            <a:avLst/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159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KOMBILA Patrick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31596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250 000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1596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E9F6E"/>
                </a:solidFill>
                <a:latin typeface="Segoe UI"/>
              </a:rPr>
              <a:t>200 000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3159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C2626"/>
                </a:solidFill>
                <a:latin typeface="Segoe UI"/>
              </a:rPr>
              <a:t>50 000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F172A"/>
                </a:solidFill>
                <a:latin typeface="Segoe UI"/>
              </a:rPr>
              <a:t>Si l’élève affirme avoir tout payé mais apparaît « débiteur », c’est qu’une partie du cash n’a jamais été enregistrée : </a:t>
            </a:r>
            <a:r>
              <a:rPr sz="1400" b="1" i="0">
                <a:solidFill>
                  <a:srgbClr val="DC2626"/>
                </a:solidFill>
                <a:latin typeface="Segoe UI"/>
              </a:rPr>
              <a:t>le solde devient un piège pour le détournement.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Rôles et cloisonnement des accès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484632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👑  Administrateur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Accès complet : élèves, paiements, caisse, impayés, journal d’audit, statistiques. Les opérations d’argent lui sont réservées.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41064"/>
            <a:ext cx="484632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👨‍🏫  Moniteur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Accède à ses élèves, ses leçons et ses examens uniquement. Aucun accès aux paiements, à la caisse ni au journal.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257800" cy="3931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6634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5F"/>
                </a:solidFill>
                <a:latin typeface="Segoe UI"/>
              </a:rPr>
              <a:t>Principes de sécurité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172A"/>
                </a:solidFill>
                <a:latin typeface="Segoe UI"/>
              </a:rPr>
              <a:t>•  Mots de passe chiffrés (scrypt)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172A"/>
                </a:solidFill>
                <a:latin typeface="Segoe UI"/>
              </a:rPr>
              <a:t>•  Connexion par jeton signé (JWT)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172A"/>
                </a:solidFill>
                <a:latin typeface="Segoe UI"/>
              </a:rPr>
              <a:t>•  Routes financières verrouillées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172A"/>
                </a:solidFill>
                <a:latin typeface="Segoe UI"/>
              </a:rPr>
              <a:t>•  Paiement Mobile Money revérifié serveur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172A"/>
                </a:solidFill>
                <a:latin typeface="Segoe UI"/>
              </a:rPr>
              <a:t>•  Actions sensibles journalisées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172A"/>
                </a:solidFill>
                <a:latin typeface="Segoe UI"/>
              </a:rPr>
              <a:t>•  Suppression remplacée par annulation tracée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MISE EN LIGNE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Déjà en production, accessible partout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83664"/>
            <a:ext cx="48463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🌐  En ligne 24/7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Hébergé sur Render, mises à jour automatiques à chaque évolution du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621024"/>
            <a:ext cx="48463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1E3A5F"/>
                </a:solidFill>
                <a:latin typeface="Segoe UI"/>
              </a:rPr>
              <a:t>📱  Multi-supports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64748B"/>
                </a:solidFill>
                <a:latin typeface="Segoe UI"/>
              </a:rPr>
              <a:t>Utilisable au bureau sur ordinateur et sur téléphone, sans installation.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257800" cy="3337560"/>
          </a:xfrm>
          <a:prstGeom prst="roundRect">
            <a:avLst>
              <a:gd name="adj" fmla="val 500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C8922A"/>
                </a:solidFill>
                <a:latin typeface="Segoe UI"/>
              </a:rPr>
              <a:t>Deux entrées, un seul système</a:t>
            </a:r>
          </a:p>
          <a:p>
            <a:pPr algn="l">
              <a:lnSpc>
                <a:spcPct val="108000"/>
              </a:lnSpc>
            </a:pPr>
            <a:r>
              <a:rPr sz="4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A9BB2"/>
                </a:solidFill>
                <a:latin typeface="Segoe UI"/>
              </a:rPr>
              <a:t>Vitrine publique (clients)</a:t>
            </a:r>
          </a:p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auto-ecole-bethel.onrender.com</a:t>
            </a:r>
          </a:p>
          <a:p>
            <a:pPr algn="l">
              <a:lnSpc>
                <a:spcPct val="108000"/>
              </a:lnSpc>
            </a:pPr>
            <a:r>
              <a:rPr sz="4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8A9BB2"/>
                </a:solidFill>
                <a:latin typeface="Segoe UI"/>
              </a:rPr>
              <a:t>Espace de gestion (personnel)</a:t>
            </a:r>
          </a:p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…onrender.com/app</a:t>
            </a:r>
          </a:p>
          <a:p>
            <a:pPr algn="l">
              <a:lnSpc>
                <a:spcPct val="108000"/>
              </a:lnSpc>
            </a:pPr>
            <a:r>
              <a:rPr sz="4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B6C4D6"/>
                </a:solidFill>
                <a:latin typeface="Segoe UI"/>
              </a:rPr>
              <a:t>Démo : admin@autoecole.ga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B6C4D6"/>
                </a:solidFill>
                <a:latin typeface="Segoe UI"/>
              </a:rPr>
              <a:t>mot de passe : admin2026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08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22A"/>
                </a:solidFill>
                <a:latin typeface="Segoe UI"/>
              </a:rPr>
              <a:t>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Segoe UI"/>
              </a:rPr>
              <a:t>Ce qui peut encore enrichir le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Image de la page d’accueil. </a:t>
            </a:r>
            <a:r>
              <a:rPr sz="1450" b="0">
                <a:solidFill>
                  <a:srgbClr val="64748B"/>
                </a:solidFill>
                <a:latin typeface="Segoe UI"/>
              </a:rPr>
              <a:t>Ajouter une photo de bannière et le vrai numéro WhatsApp de l’école.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Stockage persistant. </a:t>
            </a:r>
            <a:r>
              <a:rPr sz="1450" b="0">
                <a:solidFill>
                  <a:srgbClr val="64748B"/>
                </a:solidFill>
                <a:latin typeface="Segoe UI"/>
              </a:rPr>
              <a:t>Passer à un hébergement avec disque pour conserver durablement le journal et les données.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Activation des paiements en ligne. </a:t>
            </a:r>
            <a:r>
              <a:rPr sz="1450" b="0">
                <a:solidFill>
                  <a:srgbClr val="64748B"/>
                </a:solidFill>
                <a:latin typeface="Segoe UI"/>
              </a:rPr>
              <a:t>Intégrer les clés Mobile Money (Airtel / Moov) en production.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450" b="1">
                <a:solidFill>
                  <a:srgbClr val="C8922A"/>
                </a:solidFill>
                <a:latin typeface="Segoe UI"/>
              </a:rPr>
              <a:t>—  </a:t>
            </a:r>
            <a:r>
              <a:rPr sz="1450" b="1">
                <a:solidFill>
                  <a:srgbClr val="0F172A"/>
                </a:solidFill>
                <a:latin typeface="Segoe UI"/>
              </a:rPr>
              <a:t>Renforcer les accès. </a:t>
            </a:r>
            <a:r>
              <a:rPr sz="1450" b="0">
                <a:solidFill>
                  <a:srgbClr val="64748B"/>
                </a:solidFill>
                <a:latin typeface="Segoe UI"/>
              </a:rPr>
              <a:t>Changer le mot de passe administrateur par défaut.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120640" cy="3977639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011680"/>
            <a:ext cx="45720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E3A5F"/>
                </a:solidFill>
                <a:latin typeface="Segoe UI"/>
              </a:rPr>
              <a:t>Pistes complémentaires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FFFFFF"/>
                </a:solidFill>
                <a:latin typeface="Segoe U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•  Suivi carburant &amp; entretien véhicules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•  Relances automatiques des impayés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•  Progression pédagogique par élève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•  Export comptable (Excel)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•  Attestations &amp; documents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2926080" cy="38100"/>
          </a:xfrm>
          <a:prstGeom prst="rect">
            <a:avLst/>
          </a:prstGeom>
          <a:solidFill>
            <a:srgbClr val="C89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FFFFF"/>
                </a:solidFill>
                <a:latin typeface="Segoe UI"/>
              </a:rPr>
              <a:t>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Un outil de gestion — et de confiance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8922A"/>
                </a:solidFill>
                <a:latin typeface="Segoe UI"/>
              </a:rPr>
              <a:t>Chaque franc traçable · chaque action attribuable · chaque solde vérifiable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BB2"/>
                </a:solidFill>
                <a:latin typeface="Segoe UI"/>
              </a:rPr>
              <a:t>Auto-École Béthel · Lambaréné, Gabon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