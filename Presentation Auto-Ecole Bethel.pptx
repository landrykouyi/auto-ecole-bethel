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0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074920"/>
            <a:ext cx="12191695" cy="38100"/>
          </a:xfrm>
          <a:prstGeom prst="rect">
            <a:avLst/>
          </a:prstGeom>
          <a:solidFill>
            <a:srgbClr val="C892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1828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5400" b="0" i="0">
                <a:solidFill>
                  <a:srgbClr val="FFFFFF"/>
                </a:solidFill>
                <a:latin typeface="Segoe UI"/>
              </a:rPr>
              <a:t>🚗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46888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600" b="1" i="0">
                <a:solidFill>
                  <a:srgbClr val="FFFFFF"/>
                </a:solidFill>
                <a:latin typeface="Segoe UI"/>
              </a:rPr>
              <a:t>Auto-École Béthel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3566160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0" i="0">
                <a:solidFill>
                  <a:srgbClr val="C8922A"/>
                </a:solidFill>
                <a:latin typeface="Segoe UI"/>
              </a:rPr>
              <a:t>Application de gestion, de traçabilité et de contrôle financier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525780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i="0">
                <a:solidFill>
                  <a:srgbClr val="B6C4D6"/>
                </a:solidFill>
                <a:latin typeface="Segoe UI"/>
              </a:rPr>
              <a:t>Lambaréné · Gabon</a:t>
            </a:r>
          </a:p>
          <a:p>
            <a:pPr algn="l">
              <a:lnSpc>
                <a:spcPct val="100000"/>
              </a:lnSpc>
            </a:pPr>
            <a:r>
              <a:rPr sz="1300" b="0" i="1">
                <a:solidFill>
                  <a:srgbClr val="8A9BB2"/>
                </a:solidFill>
                <a:latin typeface="Segoe UI"/>
              </a:rPr>
              <a:t>auto-ecole-bethel.onrender.com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0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50800"/>
          </a:xfrm>
          <a:prstGeom prst="rect">
            <a:avLst/>
          </a:prstGeom>
          <a:solidFill>
            <a:srgbClr val="C892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256032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C8922A"/>
                </a:solidFill>
                <a:latin typeface="Segoe UI"/>
              </a:rPr>
              <a:t>CONTEXTE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4864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Segoe UI"/>
              </a:rPr>
              <a:t>Le besoin : gérer une auto-école et sécuriser ses recettes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00200"/>
            <a:ext cx="5486400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500" b="1">
                <a:solidFill>
                  <a:srgbClr val="C8922A"/>
                </a:solidFill>
                <a:latin typeface="Segoe UI"/>
              </a:rPr>
              <a:t>—  </a:t>
            </a:r>
            <a:r>
              <a:rPr sz="1500" b="1">
                <a:solidFill>
                  <a:srgbClr val="0F172A"/>
                </a:solidFill>
                <a:latin typeface="Segoe UI"/>
              </a:rPr>
              <a:t>Beaucoup de liquide. </a:t>
            </a:r>
            <a:r>
              <a:rPr sz="1500" b="0">
                <a:solidFill>
                  <a:srgbClr val="64748B"/>
                </a:solidFill>
                <a:latin typeface="Segoe UI"/>
              </a:rPr>
              <a:t>Inscriptions, leçons et examens sont réglés en grande partie en espèces, au guichet.</a:t>
            </a:r>
          </a:p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500" b="1">
                <a:solidFill>
                  <a:srgbClr val="C8922A"/>
                </a:solidFill>
                <a:latin typeface="Segoe UI"/>
              </a:rPr>
              <a:t>—  </a:t>
            </a:r>
            <a:r>
              <a:rPr sz="1500" b="1">
                <a:solidFill>
                  <a:srgbClr val="0F172A"/>
                </a:solidFill>
                <a:latin typeface="Segoe UI"/>
              </a:rPr>
              <a:t>Peu de visibilité. </a:t>
            </a:r>
            <a:r>
              <a:rPr sz="1500" b="0">
                <a:solidFill>
                  <a:srgbClr val="64748B"/>
                </a:solidFill>
                <a:latin typeface="Segoe UI"/>
              </a:rPr>
              <a:t>Difficile de savoir qui a payé quoi, qui reste devoir, et quel agent a encaissé.</a:t>
            </a:r>
          </a:p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500" b="1">
                <a:solidFill>
                  <a:srgbClr val="C8922A"/>
                </a:solidFill>
                <a:latin typeface="Segoe UI"/>
              </a:rPr>
              <a:t>—  </a:t>
            </a:r>
            <a:r>
              <a:rPr sz="1500" b="1">
                <a:solidFill>
                  <a:srgbClr val="0F172A"/>
                </a:solidFill>
                <a:latin typeface="Segoe UI"/>
              </a:rPr>
              <a:t>Risque de fuites. </a:t>
            </a:r>
            <a:r>
              <a:rPr sz="1500" b="0">
                <a:solidFill>
                  <a:srgbClr val="64748B"/>
                </a:solidFill>
                <a:latin typeface="Segoe UI"/>
              </a:rPr>
              <a:t>Argent encaissé mais non enregistré, reçus manuels, aucune trace des actions.</a:t>
            </a:r>
          </a:p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500" b="1">
                <a:solidFill>
                  <a:srgbClr val="C8922A"/>
                </a:solidFill>
                <a:latin typeface="Segoe UI"/>
              </a:rPr>
              <a:t>—  </a:t>
            </a:r>
            <a:r>
              <a:rPr sz="1500" b="1">
                <a:solidFill>
                  <a:srgbClr val="0F172A"/>
                </a:solidFill>
                <a:latin typeface="Segoe UI"/>
              </a:rPr>
              <a:t>Gestion dispersée. </a:t>
            </a:r>
            <a:r>
              <a:rPr sz="1500" b="0">
                <a:solidFill>
                  <a:srgbClr val="64748B"/>
                </a:solidFill>
                <a:latin typeface="Segoe UI"/>
              </a:rPr>
              <a:t>Élèves, moniteurs, véhicules, plannings et paiements suivis sur papier ou tableurs.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0" y="1737360"/>
            <a:ext cx="4937760" cy="4023360"/>
          </a:xfrm>
          <a:prstGeom prst="roundRect">
            <a:avLst>
              <a:gd name="adj" fmla="val 5000"/>
            </a:avLst>
          </a:prstGeom>
          <a:solidFill>
            <a:srgbClr val="10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903720" y="2057400"/>
            <a:ext cx="4389120" cy="3566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 i="0">
                <a:solidFill>
                  <a:srgbClr val="C8922A"/>
                </a:solidFill>
                <a:latin typeface="Segoe UI"/>
              </a:rPr>
              <a:t>Le point aveugle</a:t>
            </a:r>
          </a:p>
          <a:p>
            <a:pPr algn="l">
              <a:lnSpc>
                <a:spcPct val="110000"/>
              </a:lnSpc>
            </a:pPr>
            <a:r>
              <a:rPr sz="600" b="0" i="0">
                <a:solidFill>
                  <a:srgbClr val="FFFFFF"/>
                </a:solidFill>
                <a:latin typeface="Segoe UI"/>
              </a:rPr>
              <a:t> </a:t>
            </a:r>
          </a:p>
          <a:p>
            <a:pPr algn="l">
              <a:lnSpc>
                <a:spcPct val="110000"/>
              </a:lnSpc>
            </a:pPr>
            <a:r>
              <a:rPr sz="1500" b="0" i="1">
                <a:solidFill>
                  <a:srgbClr val="FFFFFF"/>
                </a:solidFill>
                <a:latin typeface="Segoe UI"/>
              </a:rPr>
              <a:t>« L’argent ne manque nulle part dans le système…</a:t>
            </a:r>
          </a:p>
          <a:p>
            <a:pPr algn="l">
              <a:lnSpc>
                <a:spcPct val="110000"/>
              </a:lnSpc>
            </a:pPr>
            <a:r>
              <a:rPr sz="1500" b="0" i="1">
                <a:solidFill>
                  <a:srgbClr val="FFFFFF"/>
                </a:solidFill>
                <a:latin typeface="Segoe UI"/>
              </a:rPr>
              <a:t>parce qu’il n’est jamais entré dans le système. »</a:t>
            </a:r>
          </a:p>
          <a:p>
            <a:pPr algn="l">
              <a:lnSpc>
                <a:spcPct val="110000"/>
              </a:lnSpc>
            </a:pPr>
            <a:r>
              <a:rPr sz="800" b="0" i="0">
                <a:solidFill>
                  <a:srgbClr val="FFFFFF"/>
                </a:solidFill>
                <a:latin typeface="Segoe UI"/>
              </a:rPr>
              <a:t> </a:t>
            </a:r>
          </a:p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B6C4D6"/>
                </a:solidFill>
                <a:latin typeface="Segoe UI"/>
              </a:rPr>
              <a:t>L’objectif du projet : rendre chaque franc traçable et chaque action attribuable.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94415" y="6400800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64748B"/>
                </a:solidFill>
                <a:latin typeface="Segoe UI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0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50800"/>
          </a:xfrm>
          <a:prstGeom prst="rect">
            <a:avLst/>
          </a:prstGeom>
          <a:solidFill>
            <a:srgbClr val="C892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256032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C8922A"/>
                </a:solidFill>
                <a:latin typeface="Segoe UI"/>
              </a:rPr>
              <a:t>LA SOLUTION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4864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Segoe UI"/>
              </a:rPr>
              <a:t>Une application web unique, accessible au bureau et au téléphone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554480"/>
            <a:ext cx="3611880" cy="160020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1554480"/>
            <a:ext cx="82296" cy="1600200"/>
          </a:xfrm>
          <a:prstGeom prst="roundRect">
            <a:avLst>
              <a:gd name="adj" fmla="val 50000"/>
            </a:avLst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1700784"/>
            <a:ext cx="3200400" cy="1325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50" b="1">
                <a:solidFill>
                  <a:srgbClr val="1E3A5F"/>
                </a:solidFill>
                <a:latin typeface="Segoe UI"/>
              </a:rPr>
              <a:t>🎓  Élèves &amp; dossiers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64748B"/>
                </a:solidFill>
                <a:latin typeface="Segoe UI"/>
              </a:rPr>
              <a:t>Fiche complète, historique, forfait convenu, WhatsApp intégré.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97680" y="1554480"/>
            <a:ext cx="3611880" cy="160020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297680" y="1554480"/>
            <a:ext cx="82296" cy="1600200"/>
          </a:xfrm>
          <a:prstGeom prst="roundRect">
            <a:avLst>
              <a:gd name="adj" fmla="val 50000"/>
            </a:avLst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53712" y="1700784"/>
            <a:ext cx="3200400" cy="1325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50" b="1">
                <a:solidFill>
                  <a:srgbClr val="1E3A5F"/>
                </a:solidFill>
                <a:latin typeface="Segoe UI"/>
              </a:rPr>
              <a:t>📅  Leçons &amp; planning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64748B"/>
                </a:solidFill>
                <a:latin typeface="Segoe UI"/>
              </a:rPr>
              <a:t>Réservation avec détection automatique des conflits de créneau.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46720" y="1554480"/>
            <a:ext cx="3611880" cy="160020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046720" y="1554480"/>
            <a:ext cx="82296" cy="1600200"/>
          </a:xfrm>
          <a:prstGeom prst="roundRect">
            <a:avLst>
              <a:gd name="adj" fmla="val 50000"/>
            </a:avLst>
          </a:prstGeom>
          <a:solidFill>
            <a:srgbClr val="0E9F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02752" y="1700784"/>
            <a:ext cx="3200400" cy="1325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50" b="1">
                <a:solidFill>
                  <a:srgbClr val="1E3A5F"/>
                </a:solidFill>
                <a:latin typeface="Segoe UI"/>
              </a:rPr>
              <a:t>💳  Paiements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64748B"/>
                </a:solidFill>
                <a:latin typeface="Segoe UI"/>
              </a:rPr>
              <a:t>Espèces au guichet + Mobile Money (Airtel / Moov) en ligne.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319272"/>
            <a:ext cx="3611880" cy="160020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48640" y="3319272"/>
            <a:ext cx="82296" cy="1600200"/>
          </a:xfrm>
          <a:prstGeom prst="roundRect">
            <a:avLst>
              <a:gd name="adj" fmla="val 50000"/>
            </a:avLst>
          </a:prstGeom>
          <a:solidFill>
            <a:srgbClr val="C892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465576"/>
            <a:ext cx="3200400" cy="1325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50" b="1">
                <a:solidFill>
                  <a:srgbClr val="1E3A5F"/>
                </a:solidFill>
                <a:latin typeface="Segoe UI"/>
              </a:rPr>
              <a:t>🧾  Caisse &amp; traçabilité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64748B"/>
                </a:solidFill>
                <a:latin typeface="Segoe UI"/>
              </a:rPr>
              <a:t>Reçus numérotés, journal d’audit, clôture de caisse quotidienne.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0" y="3319272"/>
            <a:ext cx="3611880" cy="160020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4297680" y="3319272"/>
            <a:ext cx="82296" cy="1600200"/>
          </a:xfrm>
          <a:prstGeom prst="roundRect">
            <a:avLst>
              <a:gd name="adj" fmla="val 50000"/>
            </a:avLst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53712" y="3465576"/>
            <a:ext cx="3200400" cy="1325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50" b="1">
                <a:solidFill>
                  <a:srgbClr val="1E3A5F"/>
                </a:solidFill>
                <a:latin typeface="Segoe UI"/>
              </a:rPr>
              <a:t>🏁  Examens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64748B"/>
                </a:solidFill>
                <a:latin typeface="Segoe UI"/>
              </a:rPr>
              <a:t>Suivi code / permis, taux de réussite par moniteur.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46720" y="3319272"/>
            <a:ext cx="3611880" cy="160020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046720" y="3319272"/>
            <a:ext cx="82296" cy="1600200"/>
          </a:xfrm>
          <a:prstGeom prst="roundRect">
            <a:avLst>
              <a:gd name="adj" fmla="val 50000"/>
            </a:avLst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02752" y="3465576"/>
            <a:ext cx="3200400" cy="1325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50" b="1">
                <a:solidFill>
                  <a:srgbClr val="1E3A5F"/>
                </a:solidFill>
                <a:latin typeface="Segoe UI"/>
              </a:rPr>
              <a:t>📊  Tableau de bord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64748B"/>
                </a:solidFill>
                <a:latin typeface="Segoe UI"/>
              </a:rPr>
              <a:t>Chiffre d’affaires, impayés, alertes, indicateurs en direct.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094415" y="6400800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64748B"/>
                </a:solidFill>
                <a:latin typeface="Segoe UI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0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50800"/>
          </a:xfrm>
          <a:prstGeom prst="rect">
            <a:avLst/>
          </a:prstGeom>
          <a:solidFill>
            <a:srgbClr val="C892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256032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C8922A"/>
                </a:solidFill>
                <a:latin typeface="Segoe UI"/>
              </a:rPr>
              <a:t>VITRINE PUBLIQUE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4864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Segoe UI"/>
              </a:rPr>
              <a:t>Une page d’accueil pour attirer et capter les prospects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5532120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950"/>
              </a:spcAft>
            </a:pPr>
            <a:r>
              <a:rPr sz="1450" b="1">
                <a:solidFill>
                  <a:srgbClr val="C8922A"/>
                </a:solidFill>
                <a:latin typeface="Segoe UI"/>
              </a:rPr>
              <a:t>—  </a:t>
            </a:r>
            <a:r>
              <a:rPr sz="1450" b="1">
                <a:solidFill>
                  <a:srgbClr val="0F172A"/>
                </a:solidFill>
                <a:latin typeface="Segoe UI"/>
              </a:rPr>
              <a:t>Bannière d’accroche. </a:t>
            </a:r>
            <a:r>
              <a:rPr sz="1450" b="0">
                <a:solidFill>
                  <a:srgbClr val="64748B"/>
                </a:solidFill>
                <a:latin typeface="Segoe UI"/>
              </a:rPr>
              <a:t>Message clair, appel à l’action « Je me pré-inscris ».</a:t>
            </a:r>
          </a:p>
          <a:p>
            <a:pPr>
              <a:lnSpc>
                <a:spcPct val="105000"/>
              </a:lnSpc>
              <a:spcAft>
                <a:spcPts val="950"/>
              </a:spcAft>
            </a:pPr>
            <a:r>
              <a:rPr sz="1450" b="1">
                <a:solidFill>
                  <a:srgbClr val="C8922A"/>
                </a:solidFill>
                <a:latin typeface="Segoe UI"/>
              </a:rPr>
              <a:t>—  </a:t>
            </a:r>
            <a:r>
              <a:rPr sz="1450" b="1">
                <a:solidFill>
                  <a:srgbClr val="0F172A"/>
                </a:solidFill>
                <a:latin typeface="Segoe UI"/>
              </a:rPr>
              <a:t>Forfaits chiffrés. </a:t>
            </a:r>
            <a:r>
              <a:rPr sz="1450" b="0">
                <a:solidFill>
                  <a:srgbClr val="64748B"/>
                </a:solidFill>
                <a:latin typeface="Segoe UI"/>
              </a:rPr>
              <a:t>Inscription, Code, Conduite et Permis complet, tarifs affichés.</a:t>
            </a:r>
          </a:p>
          <a:p>
            <a:pPr>
              <a:lnSpc>
                <a:spcPct val="105000"/>
              </a:lnSpc>
              <a:spcAft>
                <a:spcPts val="950"/>
              </a:spcAft>
            </a:pPr>
            <a:r>
              <a:rPr sz="1450" b="1">
                <a:solidFill>
                  <a:srgbClr val="C8922A"/>
                </a:solidFill>
                <a:latin typeface="Segoe UI"/>
              </a:rPr>
              <a:t>—  </a:t>
            </a:r>
            <a:r>
              <a:rPr sz="1450" b="1">
                <a:solidFill>
                  <a:srgbClr val="0F172A"/>
                </a:solidFill>
                <a:latin typeface="Segoe UI"/>
              </a:rPr>
              <a:t>Pourquoi nous choisir. </a:t>
            </a:r>
            <a:r>
              <a:rPr sz="1450" b="0">
                <a:solidFill>
                  <a:srgbClr val="64748B"/>
                </a:solidFill>
                <a:latin typeface="Segoe UI"/>
              </a:rPr>
              <a:t>Moniteurs agréés, véhicules entretenus, suivi, transparence.</a:t>
            </a:r>
          </a:p>
          <a:p>
            <a:pPr>
              <a:lnSpc>
                <a:spcPct val="105000"/>
              </a:lnSpc>
              <a:spcAft>
                <a:spcPts val="950"/>
              </a:spcAft>
            </a:pPr>
            <a:r>
              <a:rPr sz="1450" b="1">
                <a:solidFill>
                  <a:srgbClr val="C8922A"/>
                </a:solidFill>
                <a:latin typeface="Segoe UI"/>
              </a:rPr>
              <a:t>—  </a:t>
            </a:r>
            <a:r>
              <a:rPr sz="1450" b="1">
                <a:solidFill>
                  <a:srgbClr val="0F172A"/>
                </a:solidFill>
                <a:latin typeface="Segoe UI"/>
              </a:rPr>
              <a:t>Comment ça marche. </a:t>
            </a:r>
            <a:r>
              <a:rPr sz="1450" b="0">
                <a:solidFill>
                  <a:srgbClr val="64748B"/>
                </a:solidFill>
                <a:latin typeface="Segoe UI"/>
              </a:rPr>
              <a:t>Le parcours en 4 étapes, de la demande à l’examen.</a:t>
            </a:r>
          </a:p>
          <a:p>
            <a:pPr>
              <a:lnSpc>
                <a:spcPct val="105000"/>
              </a:lnSpc>
              <a:spcAft>
                <a:spcPts val="950"/>
              </a:spcAft>
            </a:pPr>
            <a:r>
              <a:rPr sz="1450" b="1">
                <a:solidFill>
                  <a:srgbClr val="C8922A"/>
                </a:solidFill>
                <a:latin typeface="Segoe UI"/>
              </a:rPr>
              <a:t>—  </a:t>
            </a:r>
            <a:r>
              <a:rPr sz="1450" b="1">
                <a:solidFill>
                  <a:srgbClr val="0F172A"/>
                </a:solidFill>
                <a:latin typeface="Segoe UI"/>
              </a:rPr>
              <a:t>Formulaire de pré-inscription. </a:t>
            </a:r>
            <a:r>
              <a:rPr sz="1450" b="0">
                <a:solidFill>
                  <a:srgbClr val="64748B"/>
                </a:solidFill>
                <a:latin typeface="Segoe UI"/>
              </a:rPr>
              <a:t>Prénom, téléphone, forfait souhaité, message.</a:t>
            </a:r>
          </a:p>
          <a:p>
            <a:pPr>
              <a:lnSpc>
                <a:spcPct val="105000"/>
              </a:lnSpc>
              <a:spcAft>
                <a:spcPts val="950"/>
              </a:spcAft>
            </a:pPr>
            <a:r>
              <a:rPr sz="1450" b="1">
                <a:solidFill>
                  <a:srgbClr val="C8922A"/>
                </a:solidFill>
                <a:latin typeface="Segoe UI"/>
              </a:rPr>
              <a:t>—  </a:t>
            </a:r>
            <a:r>
              <a:rPr sz="1450" b="1">
                <a:solidFill>
                  <a:srgbClr val="0F172A"/>
                </a:solidFill>
                <a:latin typeface="Segoe UI"/>
              </a:rPr>
              <a:t>WhatsApp intégré. </a:t>
            </a:r>
            <a:r>
              <a:rPr sz="1450" b="0">
                <a:solidFill>
                  <a:srgbClr val="64748B"/>
                </a:solidFill>
                <a:latin typeface="Segoe UI"/>
              </a:rPr>
              <a:t>Bouton flottant + contact direct pré-rempli.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55080" y="1783080"/>
            <a:ext cx="5166360" cy="3198685"/>
          </a:xfrm>
          <a:prstGeom prst="roundRect">
            <a:avLst>
              <a:gd name="adj" fmla="val 4000"/>
            </a:avLst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355080" y="1783080"/>
            <a:ext cx="5166360" cy="292608"/>
          </a:xfrm>
          <a:prstGeom prst="roundRect">
            <a:avLst>
              <a:gd name="adj" fmla="val 6000"/>
            </a:avLst>
          </a:prstGeom>
          <a:solidFill>
            <a:srgbClr val="2A3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519672" y="1883664"/>
            <a:ext cx="100584" cy="100584"/>
          </a:xfrm>
          <a:prstGeom prst="ellipse">
            <a:avLst/>
          </a:prstGeom>
          <a:solidFill>
            <a:srgbClr val="EF5F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720840" y="1883664"/>
            <a:ext cx="100584" cy="100584"/>
          </a:xfrm>
          <a:prstGeom prst="ellipse">
            <a:avLst/>
          </a:prstGeom>
          <a:solidFill>
            <a:srgbClr val="F4BF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922008" y="1883664"/>
            <a:ext cx="100584" cy="100584"/>
          </a:xfrm>
          <a:prstGeom prst="ellipse">
            <a:avLst/>
          </a:prstGeom>
          <a:solidFill>
            <a:srgbClr val="4FC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315200" y="1847088"/>
            <a:ext cx="3977640" cy="173736"/>
          </a:xfrm>
          <a:prstGeom prst="roundRect">
            <a:avLst>
              <a:gd name="adj" fmla="val 50000"/>
            </a:avLst>
          </a:prstGeom>
          <a:solidFill>
            <a:srgbClr val="1B28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52360" y="1851660"/>
            <a:ext cx="3886200" cy="155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9FB0C6"/>
                </a:solidFill>
                <a:latin typeface="Segoe UI"/>
              </a:rPr>
              <a:t>auto-ecole-bethel.onrender.com</a:t>
            </a:r>
          </a:p>
        </p:txBody>
      </p:sp>
      <p:pic>
        <p:nvPicPr>
          <p:cNvPr id="14" name="Picture 13" descr="landing_hero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075688"/>
            <a:ext cx="5166360" cy="2906077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355080" y="5118925"/>
            <a:ext cx="5166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 i="1">
                <a:solidFill>
                  <a:srgbClr val="64748B"/>
                </a:solidFill>
                <a:latin typeface="Segoe UI"/>
              </a:rPr>
              <a:t>Page d’accueil publique en ligne — </a:t>
            </a:r>
            <a:r>
              <a:rPr sz="1100" b="1" i="0">
                <a:solidFill>
                  <a:srgbClr val="1E3A5F"/>
                </a:solidFill>
                <a:latin typeface="Segoe UI"/>
              </a:rPr>
              <a:t>vue réelle du site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094415" y="6400800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64748B"/>
                </a:solidFill>
                <a:latin typeface="Segoe UI"/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0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50800"/>
          </a:xfrm>
          <a:prstGeom prst="rect">
            <a:avLst/>
          </a:prstGeom>
          <a:solidFill>
            <a:srgbClr val="C892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256032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C8922A"/>
                </a:solidFill>
                <a:latin typeface="Segoe UI"/>
              </a:rPr>
              <a:t>DU PROSPECT À L’ÉLÈVE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4864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Segoe UI"/>
              </a:rPr>
              <a:t>Chaque demande devient une opportunité suivie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20240"/>
            <a:ext cx="2651760" cy="2926080"/>
          </a:xfrm>
          <a:prstGeom prst="roundRect">
            <a:avLst>
              <a:gd name="adj" fmla="val 5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68680" y="2176272"/>
            <a:ext cx="640080" cy="640080"/>
          </a:xfrm>
          <a:prstGeom prst="ellipse">
            <a:avLst/>
          </a:prstGeom>
          <a:solidFill>
            <a:srgbClr val="10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304288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 i="0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971800"/>
            <a:ext cx="21945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0" i="0">
                <a:solidFill>
                  <a:srgbClr val="0F172A"/>
                </a:solidFill>
                <a:latin typeface="Segoe UI"/>
              </a:rPr>
              <a:t>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" y="3611880"/>
            <a:ext cx="2194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1E3A5F"/>
                </a:solidFill>
                <a:latin typeface="Segoe UI"/>
              </a:rPr>
              <a:t>Le visiteur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3977640"/>
            <a:ext cx="21945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 i="0">
                <a:solidFill>
                  <a:srgbClr val="64748B"/>
                </a:solidFill>
                <a:latin typeface="Segoe UI"/>
              </a:rPr>
              <a:t>remplit le formulaire sur la page d’accueil publique.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73552" y="3063240"/>
            <a:ext cx="274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C8922A"/>
                </a:solidFill>
                <a:latin typeface="Segoe UI"/>
              </a:rP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93008" y="1920240"/>
            <a:ext cx="2651760" cy="2926080"/>
          </a:xfrm>
          <a:prstGeom prst="roundRect">
            <a:avLst>
              <a:gd name="adj" fmla="val 5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721608" y="2176272"/>
            <a:ext cx="640080" cy="640080"/>
          </a:xfrm>
          <a:prstGeom prst="ellipse">
            <a:avLst/>
          </a:prstGeom>
          <a:solidFill>
            <a:srgbClr val="10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721608" y="2304288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 i="0">
                <a:solidFill>
                  <a:srgbClr val="FFFFFF"/>
                </a:solidFill>
                <a:latin typeface="Segoe U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21608" y="2971800"/>
            <a:ext cx="21945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0" i="0">
                <a:solidFill>
                  <a:srgbClr val="0F172A"/>
                </a:solidFill>
                <a:latin typeface="Segoe UI"/>
              </a:rPr>
              <a:t>📥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49040" y="3611880"/>
            <a:ext cx="2194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1E3A5F"/>
                </a:solidFill>
                <a:latin typeface="Segoe UI"/>
              </a:rPr>
              <a:t>La demande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49040" y="3977640"/>
            <a:ext cx="21945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 i="0">
                <a:solidFill>
                  <a:srgbClr val="64748B"/>
                </a:solidFill>
                <a:latin typeface="Segoe UI"/>
              </a:rPr>
              <a:t>arrive automatiquement dans l’espace « Prospects » de l’admin.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26480" y="3063240"/>
            <a:ext cx="274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C8922A"/>
                </a:solidFill>
                <a:latin typeface="Segoe UI"/>
              </a:rP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345936" y="1920240"/>
            <a:ext cx="2651760" cy="2926080"/>
          </a:xfrm>
          <a:prstGeom prst="roundRect">
            <a:avLst>
              <a:gd name="adj" fmla="val 5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574536" y="2176272"/>
            <a:ext cx="640080" cy="640080"/>
          </a:xfrm>
          <a:prstGeom prst="ellipse">
            <a:avLst/>
          </a:prstGeom>
          <a:solidFill>
            <a:srgbClr val="10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74536" y="2304288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 i="0">
                <a:solidFill>
                  <a:srgbClr val="FFFFFF"/>
                </a:solidFill>
                <a:latin typeface="Segoe UI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74536" y="2971800"/>
            <a:ext cx="21945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0" i="0">
                <a:solidFill>
                  <a:srgbClr val="0F172A"/>
                </a:solidFill>
                <a:latin typeface="Segoe UI"/>
              </a:rPr>
              <a:t>💬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01968" y="3611880"/>
            <a:ext cx="2194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1E3A5F"/>
                </a:solidFill>
                <a:latin typeface="Segoe UI"/>
              </a:rPr>
              <a:t>L’équipe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01968" y="3977640"/>
            <a:ext cx="21945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 i="0">
                <a:solidFill>
                  <a:srgbClr val="64748B"/>
                </a:solidFill>
                <a:latin typeface="Segoe UI"/>
              </a:rPr>
              <a:t>rappelle le prospect (WhatsApp intégré) et met à jour son statut.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79408" y="3063240"/>
            <a:ext cx="274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C8922A"/>
                </a:solidFill>
                <a:latin typeface="Segoe UI"/>
              </a:rPr>
              <a:t>→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198864" y="1920240"/>
            <a:ext cx="2651760" cy="2926080"/>
          </a:xfrm>
          <a:prstGeom prst="roundRect">
            <a:avLst>
              <a:gd name="adj" fmla="val 5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9427464" y="2176272"/>
            <a:ext cx="640080" cy="640080"/>
          </a:xfrm>
          <a:prstGeom prst="ellipse">
            <a:avLst/>
          </a:prstGeom>
          <a:solidFill>
            <a:srgbClr val="0E9F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427464" y="2304288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 i="0">
                <a:solidFill>
                  <a:srgbClr val="FFFFFF"/>
                </a:solidFill>
                <a:latin typeface="Segoe UI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27464" y="2971800"/>
            <a:ext cx="21945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0" i="0">
                <a:solidFill>
                  <a:srgbClr val="0F172A"/>
                </a:solidFill>
                <a:latin typeface="Segoe UI"/>
              </a:rPr>
              <a:t>🎓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54896" y="3611880"/>
            <a:ext cx="2194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1E3A5F"/>
                </a:solidFill>
                <a:latin typeface="Segoe UI"/>
              </a:rPr>
              <a:t>En un clic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454896" y="3977640"/>
            <a:ext cx="21945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 i="0">
                <a:solidFill>
                  <a:srgbClr val="64748B"/>
                </a:solidFill>
                <a:latin typeface="Segoe UI"/>
              </a:rPr>
              <a:t>le prospect est converti en élève : sa fiche est créée.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5074920"/>
            <a:ext cx="108813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50" b="0" i="1">
                <a:solidFill>
                  <a:srgbClr val="0F172A"/>
                </a:solidFill>
                <a:latin typeface="Segoe UI"/>
              </a:rPr>
              <a:t>Aucune demande n’est perdue : le formulaire public alimente directement le fichier commercial de l’école.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094415" y="6400800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64748B"/>
                </a:solidFill>
                <a:latin typeface="Segoe UI"/>
              </a:rP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0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50800"/>
          </a:xfrm>
          <a:prstGeom prst="rect">
            <a:avLst/>
          </a:prstGeom>
          <a:solidFill>
            <a:srgbClr val="C892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256032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C8922A"/>
                </a:solidFill>
                <a:latin typeface="Segoe UI"/>
              </a:rPr>
              <a:t>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4864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Segoe UI"/>
              </a:rPr>
              <a:t>Une base technique légère, robuste et sans coût de licence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00200"/>
            <a:ext cx="5577840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450" b="1">
                <a:solidFill>
                  <a:srgbClr val="C8922A"/>
                </a:solidFill>
                <a:latin typeface="Segoe UI"/>
              </a:rPr>
              <a:t>—  </a:t>
            </a:r>
            <a:r>
              <a:rPr sz="1450" b="1">
                <a:solidFill>
                  <a:srgbClr val="0F172A"/>
                </a:solidFill>
                <a:latin typeface="Segoe UI"/>
              </a:rPr>
              <a:t>Node.js + Express. </a:t>
            </a:r>
            <a:r>
              <a:rPr sz="1450" b="0">
                <a:solidFill>
                  <a:srgbClr val="64748B"/>
                </a:solidFill>
                <a:latin typeface="Segoe UI"/>
              </a:rPr>
              <a:t>Serveur web moderne, code source 100 % maîtrisé.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450" b="1">
                <a:solidFill>
                  <a:srgbClr val="C8922A"/>
                </a:solidFill>
                <a:latin typeface="Segoe UI"/>
              </a:rPr>
              <a:t>—  </a:t>
            </a:r>
            <a:r>
              <a:rPr sz="1450" b="1">
                <a:solidFill>
                  <a:srgbClr val="0F172A"/>
                </a:solidFill>
                <a:latin typeface="Segoe UI"/>
              </a:rPr>
              <a:t>Base SQLite intégrée. </a:t>
            </a:r>
            <a:r>
              <a:rPr sz="1450" b="0">
                <a:solidFill>
                  <a:srgbClr val="64748B"/>
                </a:solidFill>
                <a:latin typeface="Segoe UI"/>
              </a:rPr>
              <a:t>Aucune base externe à administrer ni à payer.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450" b="1">
                <a:solidFill>
                  <a:srgbClr val="C8922A"/>
                </a:solidFill>
                <a:latin typeface="Segoe UI"/>
              </a:rPr>
              <a:t>—  </a:t>
            </a:r>
            <a:r>
              <a:rPr sz="1450" b="1">
                <a:solidFill>
                  <a:srgbClr val="0F172A"/>
                </a:solidFill>
                <a:latin typeface="Segoe UI"/>
              </a:rPr>
              <a:t>Interface web responsive. </a:t>
            </a:r>
            <a:r>
              <a:rPr sz="1450" b="0">
                <a:solidFill>
                  <a:srgbClr val="64748B"/>
                </a:solidFill>
                <a:latin typeface="Segoe UI"/>
              </a:rPr>
              <a:t>S’ouvre dans un navigateur, sur ordinateur comme sur mobile.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450" b="1">
                <a:solidFill>
                  <a:srgbClr val="C8922A"/>
                </a:solidFill>
                <a:latin typeface="Segoe UI"/>
              </a:rPr>
              <a:t>—  </a:t>
            </a:r>
            <a:r>
              <a:rPr sz="1450" b="1">
                <a:solidFill>
                  <a:srgbClr val="0F172A"/>
                </a:solidFill>
                <a:latin typeface="Segoe UI"/>
              </a:rPr>
              <a:t>Sécurité maison. </a:t>
            </a:r>
            <a:r>
              <a:rPr sz="1450" b="0">
                <a:solidFill>
                  <a:srgbClr val="64748B"/>
                </a:solidFill>
                <a:latin typeface="Segoe UI"/>
              </a:rPr>
              <a:t>Connexion par jeton (JWT) et mots de passe chiffrés (scrypt).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450" b="1">
                <a:solidFill>
                  <a:srgbClr val="C8922A"/>
                </a:solidFill>
                <a:latin typeface="Segoe UI"/>
              </a:rPr>
              <a:t>—  </a:t>
            </a:r>
            <a:r>
              <a:rPr sz="1450" b="1">
                <a:solidFill>
                  <a:srgbClr val="0F172A"/>
                </a:solidFill>
                <a:latin typeface="Segoe UI"/>
              </a:rPr>
              <a:t>Zéro dépendance lourde. </a:t>
            </a:r>
            <a:r>
              <a:rPr sz="1450" b="0">
                <a:solidFill>
                  <a:srgbClr val="64748B"/>
                </a:solidFill>
                <a:latin typeface="Segoe UI"/>
              </a:rPr>
              <a:t>Rapide à déployer, facile à maintenir.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450" b="1">
                <a:solidFill>
                  <a:srgbClr val="C8922A"/>
                </a:solidFill>
                <a:latin typeface="Segoe UI"/>
              </a:rPr>
              <a:t>—  </a:t>
            </a:r>
            <a:r>
              <a:rPr sz="1450" b="1">
                <a:solidFill>
                  <a:srgbClr val="0F172A"/>
                </a:solidFill>
                <a:latin typeface="Segoe UI"/>
              </a:rPr>
              <a:t>Hébergement cloud. </a:t>
            </a:r>
            <a:r>
              <a:rPr sz="1450" b="0">
                <a:solidFill>
                  <a:srgbClr val="64748B"/>
                </a:solidFill>
                <a:latin typeface="Segoe UI"/>
              </a:rPr>
              <a:t>En ligne 24/7 sur Render, mises à jour automatiques par Git.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675120" y="1737360"/>
            <a:ext cx="4846320" cy="3931920"/>
          </a:xfrm>
          <a:prstGeom prst="roundRect">
            <a:avLst>
              <a:gd name="adj" fmla="val 5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995160" y="1965960"/>
            <a:ext cx="429768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1E3A5F"/>
                </a:solidFill>
                <a:latin typeface="Segoe UI"/>
              </a:rPr>
              <a:t>Chaîne de valeur</a:t>
            </a:r>
          </a:p>
          <a:p>
            <a:pPr algn="l">
              <a:lnSpc>
                <a:spcPct val="105000"/>
              </a:lnSpc>
            </a:pPr>
            <a:r>
              <a:rPr sz="600" b="0" i="0">
                <a:solidFill>
                  <a:srgbClr val="FFFFFF"/>
                </a:solidFill>
                <a:latin typeface="Segoe UI"/>
              </a:rPr>
              <a:t> </a:t>
            </a:r>
          </a:p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0F172A"/>
                </a:solidFill>
                <a:latin typeface="Segoe UI"/>
              </a:rPr>
              <a:t>Navigateur</a:t>
            </a:r>
          </a:p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64748B"/>
                </a:solidFill>
                <a:latin typeface="Segoe UI"/>
              </a:rPr>
              <a:t>↓  interface Tailwind</a:t>
            </a:r>
          </a:p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0F172A"/>
                </a:solidFill>
                <a:latin typeface="Segoe UI"/>
              </a:rPr>
              <a:t>API Express (Node.js)</a:t>
            </a:r>
          </a:p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64748B"/>
                </a:solidFill>
                <a:latin typeface="Segoe UI"/>
              </a:rPr>
              <a:t>↓  règles métier + audit</a:t>
            </a:r>
          </a:p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0F172A"/>
                </a:solidFill>
                <a:latin typeface="Segoe UI"/>
              </a:rPr>
              <a:t>Base SQLite</a:t>
            </a:r>
          </a:p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64748B"/>
                </a:solidFill>
                <a:latin typeface="Segoe UI"/>
              </a:rPr>
              <a:t>↓  archivage</a:t>
            </a:r>
          </a:p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0E9F6E"/>
                </a:solidFill>
                <a:latin typeface="Segoe UI"/>
              </a:rPr>
              <a:t>Paiement E-Billing / SHAP</a:t>
            </a:r>
          </a:p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64748B"/>
                </a:solidFill>
                <a:latin typeface="Segoe UI"/>
              </a:rPr>
              <a:t>Mobile Money Airtel + Moov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94415" y="6400800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64748B"/>
                </a:solidFill>
                <a:latin typeface="Segoe UI"/>
              </a:rP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0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50800"/>
          </a:xfrm>
          <a:prstGeom prst="rect">
            <a:avLst/>
          </a:prstGeom>
          <a:solidFill>
            <a:srgbClr val="C892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256032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C8922A"/>
                </a:solidFill>
                <a:latin typeface="Segoe UI"/>
              </a:rPr>
              <a:t>ENCAISSEMENT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4864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Segoe UI"/>
              </a:rPr>
              <a:t>Deux canaux de paiement, un seul registre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691640"/>
            <a:ext cx="5257800" cy="182880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40080" y="1691640"/>
            <a:ext cx="82296" cy="1828800"/>
          </a:xfrm>
          <a:prstGeom prst="roundRect">
            <a:avLst>
              <a:gd name="adj" fmla="val 50000"/>
            </a:avLst>
          </a:prstGeom>
          <a:solidFill>
            <a:srgbClr val="0E9F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837944"/>
            <a:ext cx="4846320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50" b="1">
                <a:solidFill>
                  <a:srgbClr val="1E3A5F"/>
                </a:solidFill>
                <a:latin typeface="Segoe UI"/>
              </a:rPr>
              <a:t>💵  Paiement au guichet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64748B"/>
                </a:solidFill>
                <a:latin typeface="Segoe UI"/>
              </a:rPr>
              <a:t>Espèces ou Mobile Money encaissés sur place. Enregistré en un clic, avec reçu imprimable numéroté.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703320"/>
            <a:ext cx="5257800" cy="182880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40080" y="3703320"/>
            <a:ext cx="82296" cy="1828800"/>
          </a:xfrm>
          <a:prstGeom prst="roundRect">
            <a:avLst>
              <a:gd name="adj" fmla="val 50000"/>
            </a:avLst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3849624"/>
            <a:ext cx="4846320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50" b="1">
                <a:solidFill>
                  <a:srgbClr val="1E3A5F"/>
                </a:solidFill>
                <a:latin typeface="Segoe UI"/>
              </a:rPr>
              <a:t>📲  Mobile Money en ligne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64748B"/>
                </a:solidFill>
                <a:latin typeface="Segoe UI"/>
              </a:rPr>
              <a:t>Demande de paiement poussée directement sur le téléphone de l’élève (Airtel / Moov) via E-Billing.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640" y="1691640"/>
            <a:ext cx="5257800" cy="3840480"/>
          </a:xfrm>
          <a:prstGeom prst="roundRect">
            <a:avLst>
              <a:gd name="adj" fmla="val 5000"/>
            </a:avLst>
          </a:prstGeom>
          <a:solidFill>
            <a:srgbClr val="10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0" y="1965960"/>
            <a:ext cx="4663440" cy="3474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1" i="0">
                <a:solidFill>
                  <a:srgbClr val="C8922A"/>
                </a:solidFill>
                <a:latin typeface="Segoe UI"/>
              </a:rPr>
              <a:t>Toujours vérifié côté serveur</a:t>
            </a:r>
          </a:p>
          <a:p>
            <a:pPr algn="l">
              <a:lnSpc>
                <a:spcPct val="112000"/>
              </a:lnSpc>
            </a:pPr>
            <a:r>
              <a:rPr sz="600" b="0" i="0">
                <a:solidFill>
                  <a:srgbClr val="FFFFFF"/>
                </a:solidFill>
                <a:latin typeface="Segoe UI"/>
              </a:rPr>
              <a:t> </a:t>
            </a:r>
          </a:p>
          <a:p>
            <a:pPr algn="l">
              <a:lnSpc>
                <a:spcPct val="112000"/>
              </a:lnSpc>
            </a:pPr>
            <a:r>
              <a:rPr sz="1350" b="0" i="0">
                <a:solidFill>
                  <a:srgbClr val="FFFFFF"/>
                </a:solidFill>
                <a:latin typeface="Segoe UI"/>
              </a:rPr>
              <a:t>Le statut « payé » n’est jamais accordé sur la seule confirmation reçue : le serveur revérifie chaque transaction auprès de l’opérateur.</a:t>
            </a:r>
          </a:p>
          <a:p>
            <a:pPr algn="l">
              <a:lnSpc>
                <a:spcPct val="112000"/>
              </a:lnSpc>
            </a:pPr>
            <a:r>
              <a:rPr sz="800" b="0" i="0">
                <a:solidFill>
                  <a:srgbClr val="FFFFFF"/>
                </a:solidFill>
                <a:latin typeface="Segoe UI"/>
              </a:rPr>
              <a:t> </a:t>
            </a:r>
          </a:p>
          <a:p>
            <a:pPr algn="l">
              <a:lnSpc>
                <a:spcPct val="112000"/>
              </a:lnSpc>
            </a:pPr>
            <a:r>
              <a:rPr sz="1350" b="0" i="0">
                <a:solidFill>
                  <a:srgbClr val="B6C4D6"/>
                </a:solidFill>
                <a:latin typeface="Segoe UI"/>
              </a:rPr>
              <a:t>Chaque paiement confirmé reçoit automatiquement son numéro de reçu et son encaisseur.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094415" y="6400800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64748B"/>
                </a:solidFill>
                <a:latin typeface="Segoe UI"/>
              </a:rP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0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8922A"/>
                </a:solidFill>
                <a:latin typeface="Segoe UI"/>
              </a:rPr>
              <a:t>LE CŒUR DU PROJET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FFFFFF"/>
                </a:solidFill>
                <a:latin typeface="Segoe UI"/>
              </a:rPr>
              <a:t>🔒  Traçabilité &amp; lutte contre les détournements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3200400" cy="38100"/>
          </a:xfrm>
          <a:prstGeom prst="rect">
            <a:avLst/>
          </a:prstGeom>
          <a:solidFill>
            <a:srgbClr val="C892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2148840"/>
            <a:ext cx="3520440" cy="1691640"/>
          </a:xfrm>
          <a:prstGeom prst="roundRect">
            <a:avLst>
              <a:gd name="adj" fmla="val 6000"/>
            </a:avLst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331720"/>
            <a:ext cx="310896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FFFFFF"/>
                </a:solidFill>
                <a:latin typeface="Segoe UI"/>
              </a:rPr>
              <a:t>🕵️  Journal d’audit</a:t>
            </a:r>
          </a:p>
          <a:p>
            <a:pPr>
              <a:spcBef>
                <a:spcPts val="500"/>
              </a:spcBef>
            </a:pPr>
            <a:r>
              <a:rPr sz="1150">
                <a:solidFill>
                  <a:srgbClr val="B6C4D6"/>
                </a:solidFill>
                <a:latin typeface="Segoe UI"/>
              </a:rPr>
              <a:t>Trace immuable de chaque action sensible : qui, quoi, quand.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25112" y="2148840"/>
            <a:ext cx="3520440" cy="1691640"/>
          </a:xfrm>
          <a:prstGeom prst="roundRect">
            <a:avLst>
              <a:gd name="adj" fmla="val 6000"/>
            </a:avLst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53712" y="2331720"/>
            <a:ext cx="310896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FFFFFF"/>
                </a:solidFill>
                <a:latin typeface="Segoe UI"/>
              </a:rPr>
              <a:t>🧾  Reçus numérotés</a:t>
            </a:r>
          </a:p>
          <a:p>
            <a:pPr>
              <a:spcBef>
                <a:spcPts val="500"/>
              </a:spcBef>
            </a:pPr>
            <a:r>
              <a:rPr sz="1150">
                <a:solidFill>
                  <a:srgbClr val="B6C4D6"/>
                </a:solidFill>
                <a:latin typeface="Segoe UI"/>
              </a:rPr>
              <a:t>Séquence continue : un trou = un encaissement manquant.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10144" y="2148840"/>
            <a:ext cx="3520440" cy="1691640"/>
          </a:xfrm>
          <a:prstGeom prst="roundRect">
            <a:avLst>
              <a:gd name="adj" fmla="val 6000"/>
            </a:avLst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38744" y="2331720"/>
            <a:ext cx="310896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FFFFFF"/>
                </a:solidFill>
                <a:latin typeface="Segoe UI"/>
              </a:rPr>
              <a:t>👤  Encaisseur nominatif</a:t>
            </a:r>
          </a:p>
          <a:p>
            <a:pPr>
              <a:spcBef>
                <a:spcPts val="500"/>
              </a:spcBef>
            </a:pPr>
            <a:r>
              <a:rPr sz="1150">
                <a:solidFill>
                  <a:srgbClr val="B6C4D6"/>
                </a:solidFill>
                <a:latin typeface="Segoe UI"/>
              </a:rPr>
              <a:t>Chaque paiement porte le nom de l’agent qui l’a saisi.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4023360"/>
            <a:ext cx="3520440" cy="1691640"/>
          </a:xfrm>
          <a:prstGeom prst="roundRect">
            <a:avLst>
              <a:gd name="adj" fmla="val 6000"/>
            </a:avLst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4206240"/>
            <a:ext cx="310896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FFFFFF"/>
                </a:solidFill>
                <a:latin typeface="Segoe UI"/>
              </a:rPr>
              <a:t>💰  Clôture de caisse</a:t>
            </a:r>
          </a:p>
          <a:p>
            <a:pPr>
              <a:spcBef>
                <a:spcPts val="500"/>
              </a:spcBef>
            </a:pPr>
            <a:r>
              <a:rPr sz="1150">
                <a:solidFill>
                  <a:srgbClr val="B6C4D6"/>
                </a:solidFill>
                <a:latin typeface="Segoe UI"/>
              </a:rPr>
              <a:t>Cash théorique vs. cash compté → l’écart saute aux yeux.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25112" y="4023360"/>
            <a:ext cx="3520440" cy="1691640"/>
          </a:xfrm>
          <a:prstGeom prst="roundRect">
            <a:avLst>
              <a:gd name="adj" fmla="val 6000"/>
            </a:avLst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53712" y="4206240"/>
            <a:ext cx="310896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FFFFFF"/>
                </a:solidFill>
                <a:latin typeface="Segoe UI"/>
              </a:rPr>
              <a:t>📝  Contrat pédagogique</a:t>
            </a:r>
          </a:p>
          <a:p>
            <a:pPr>
              <a:spcBef>
                <a:spcPts val="500"/>
              </a:spcBef>
            </a:pPr>
            <a:r>
              <a:rPr sz="1150">
                <a:solidFill>
                  <a:srgbClr val="B6C4D6"/>
                </a:solidFill>
                <a:latin typeface="Segoe UI"/>
              </a:rPr>
              <a:t>Forfait dû − payé = solde : révèle l’argent jamais entré.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10144" y="4023360"/>
            <a:ext cx="3520440" cy="1691640"/>
          </a:xfrm>
          <a:prstGeom prst="roundRect">
            <a:avLst>
              <a:gd name="adj" fmla="val 6000"/>
            </a:avLst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38744" y="4206240"/>
            <a:ext cx="310896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FFFFFF"/>
                </a:solidFill>
                <a:latin typeface="Segoe UI"/>
              </a:rPr>
              <a:t>🚫  Annulation tracée</a:t>
            </a:r>
          </a:p>
          <a:p>
            <a:pPr>
              <a:spcBef>
                <a:spcPts val="500"/>
              </a:spcBef>
            </a:pPr>
            <a:r>
              <a:rPr sz="1150">
                <a:solidFill>
                  <a:srgbClr val="B6C4D6"/>
                </a:solidFill>
                <a:latin typeface="Segoe UI"/>
              </a:rPr>
              <a:t>On annule avec motif, jamais on ne supprime.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094415" y="6400800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64748B"/>
                </a:solidFill>
                <a:latin typeface="Segoe UI"/>
              </a:rP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0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50800"/>
          </a:xfrm>
          <a:prstGeom prst="rect">
            <a:avLst/>
          </a:prstGeom>
          <a:solidFill>
            <a:srgbClr val="C892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256032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C8922A"/>
                </a:solidFill>
                <a:latin typeface="Segoe UI"/>
              </a:rPr>
              <a:t>TRAÇABILITÉ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4864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Segoe UI"/>
              </a:rPr>
              <a:t>Journal d’audit &amp; reçus infalsifiables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00200"/>
            <a:ext cx="5486400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450" b="1">
                <a:solidFill>
                  <a:srgbClr val="C8922A"/>
                </a:solidFill>
                <a:latin typeface="Segoe UI"/>
              </a:rPr>
              <a:t>—  </a:t>
            </a:r>
            <a:r>
              <a:rPr sz="1450" b="1">
                <a:solidFill>
                  <a:srgbClr val="0F172A"/>
                </a:solidFill>
                <a:latin typeface="Segoe UI"/>
              </a:rPr>
              <a:t>Chaque action est enregistrée. </a:t>
            </a:r>
            <a:r>
              <a:rPr sz="1450" b="0">
                <a:solidFill>
                  <a:srgbClr val="64748B"/>
                </a:solidFill>
                <a:latin typeface="Segoe UI"/>
              </a:rPr>
              <a:t>Paiement, annulation, clôture, suppression, modification d’un forfait.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450" b="1">
                <a:solidFill>
                  <a:srgbClr val="C8922A"/>
                </a:solidFill>
                <a:latin typeface="Segoe UI"/>
              </a:rPr>
              <a:t>—  </a:t>
            </a:r>
            <a:r>
              <a:rPr sz="1450" b="1">
                <a:solidFill>
                  <a:srgbClr val="0F172A"/>
                </a:solidFill>
                <a:latin typeface="Segoe UI"/>
              </a:rPr>
              <a:t>Auteur identifié. </a:t>
            </a:r>
            <a:r>
              <a:rPr sz="1450" b="0">
                <a:solidFill>
                  <a:srgbClr val="64748B"/>
                </a:solidFill>
                <a:latin typeface="Segoe UI"/>
              </a:rPr>
              <a:t>Nom, rôle, date, heure et adresse IP conservés.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450" b="1">
                <a:solidFill>
                  <a:srgbClr val="C8922A"/>
                </a:solidFill>
                <a:latin typeface="Segoe UI"/>
              </a:rPr>
              <a:t>—  </a:t>
            </a:r>
            <a:r>
              <a:rPr sz="1450" b="1">
                <a:solidFill>
                  <a:srgbClr val="0F172A"/>
                </a:solidFill>
                <a:latin typeface="Segoe UI"/>
              </a:rPr>
              <a:t>Registre en lecture seule. </a:t>
            </a:r>
            <a:r>
              <a:rPr sz="1450" b="0">
                <a:solidFill>
                  <a:srgbClr val="64748B"/>
                </a:solidFill>
                <a:latin typeface="Segoe UI"/>
              </a:rPr>
              <a:t>Consultable dans l’onglet « Journal », réservé à l’administration.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450" b="1">
                <a:solidFill>
                  <a:srgbClr val="C8922A"/>
                </a:solidFill>
                <a:latin typeface="Segoe UI"/>
              </a:rPr>
              <a:t>—  </a:t>
            </a:r>
            <a:r>
              <a:rPr sz="1450" b="1">
                <a:solidFill>
                  <a:srgbClr val="0F172A"/>
                </a:solidFill>
                <a:latin typeface="Segoe UI"/>
              </a:rPr>
              <a:t>Reçus à numéro continu. </a:t>
            </a:r>
            <a:r>
              <a:rPr sz="1450" b="0">
                <a:solidFill>
                  <a:srgbClr val="64748B"/>
                </a:solidFill>
                <a:latin typeface="Segoe UI"/>
              </a:rPr>
              <a:t>Comme un carnet à souches : impossible de faire disparaître un reçu sans laisser un trou visible.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450" b="1">
                <a:solidFill>
                  <a:srgbClr val="C8922A"/>
                </a:solidFill>
                <a:latin typeface="Segoe UI"/>
              </a:rPr>
              <a:t>—  </a:t>
            </a:r>
            <a:r>
              <a:rPr sz="1450" b="1">
                <a:solidFill>
                  <a:srgbClr val="0F172A"/>
                </a:solidFill>
                <a:latin typeface="Segoe UI"/>
              </a:rPr>
              <a:t>Nom de l’encaisseur. </a:t>
            </a:r>
            <a:r>
              <a:rPr sz="1450" b="0">
                <a:solidFill>
                  <a:srgbClr val="64748B"/>
                </a:solidFill>
                <a:latin typeface="Segoe UI"/>
              </a:rPr>
              <a:t>Imprimé sur le reçu et affiché dans la liste des paiements.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0" y="1737360"/>
            <a:ext cx="4937760" cy="4023360"/>
          </a:xfrm>
          <a:prstGeom prst="roundRect">
            <a:avLst>
              <a:gd name="adj" fmla="val 5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903720" y="1965960"/>
            <a:ext cx="4389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1E3A5F"/>
                </a:solidFill>
                <a:latin typeface="Segoe UI"/>
              </a:rPr>
              <a:t>Exemple de journal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903720" y="2514600"/>
            <a:ext cx="4389120" cy="50292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086600" y="2615184"/>
            <a:ext cx="29260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0F172A"/>
                </a:solidFill>
                <a:latin typeface="Segoe UI"/>
              </a:rPr>
              <a:t>💳 Paiement enregistré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92640" y="2615184"/>
            <a:ext cx="1463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0" i="1">
                <a:solidFill>
                  <a:srgbClr val="64748B"/>
                </a:solidFill>
                <a:latin typeface="Segoe UI"/>
              </a:rPr>
              <a:t>Administrateur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903720" y="3118104"/>
            <a:ext cx="4389120" cy="50292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086600" y="3218688"/>
            <a:ext cx="29260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0F172A"/>
                </a:solidFill>
                <a:latin typeface="Segoe UI"/>
              </a:rPr>
              <a:t>✅ Paiement confirmé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92640" y="3218688"/>
            <a:ext cx="1463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0" i="1">
                <a:solidFill>
                  <a:srgbClr val="64748B"/>
                </a:solidFill>
                <a:latin typeface="Segoe UI"/>
              </a:rPr>
              <a:t>système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903720" y="3721608"/>
            <a:ext cx="4389120" cy="50292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086600" y="3822192"/>
            <a:ext cx="29260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0F172A"/>
                </a:solidFill>
                <a:latin typeface="Segoe UI"/>
              </a:rPr>
              <a:t>🧾 Clôture de caisse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92640" y="3822192"/>
            <a:ext cx="1463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0" i="1">
                <a:solidFill>
                  <a:srgbClr val="64748B"/>
                </a:solidFill>
                <a:latin typeface="Segoe UI"/>
              </a:rPr>
              <a:t>Administrateur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903720" y="4325112"/>
            <a:ext cx="4389120" cy="50292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086600" y="4425696"/>
            <a:ext cx="29260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0F172A"/>
                </a:solidFill>
                <a:latin typeface="Segoe UI"/>
              </a:rPr>
              <a:t>🚫 Paiement annulé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92640" y="4425696"/>
            <a:ext cx="1463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0" i="1">
                <a:solidFill>
                  <a:srgbClr val="64748B"/>
                </a:solidFill>
                <a:latin typeface="Segoe UI"/>
              </a:rPr>
              <a:t>Administrateur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903720" y="4928616"/>
            <a:ext cx="4389120" cy="50292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86600" y="5029200"/>
            <a:ext cx="29260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0F172A"/>
                </a:solidFill>
                <a:latin typeface="Segoe UI"/>
              </a:rPr>
              <a:t>🗑️ Élève supprimé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92640" y="5029200"/>
            <a:ext cx="1463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0" i="1">
                <a:solidFill>
                  <a:srgbClr val="64748B"/>
                </a:solidFill>
                <a:latin typeface="Segoe UI"/>
              </a:rPr>
              <a:t>Administrateur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094415" y="6400800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64748B"/>
                </a:solidFill>
                <a:latin typeface="Segoe UI"/>
              </a:rP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0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50800"/>
          </a:xfrm>
          <a:prstGeom prst="rect">
            <a:avLst/>
          </a:prstGeom>
          <a:solidFill>
            <a:srgbClr val="C892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256032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C8922A"/>
                </a:solidFill>
                <a:latin typeface="Segoe UI"/>
              </a:rPr>
              <a:t>TRAÇABILITÉ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4864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Segoe UI"/>
              </a:rPr>
              <a:t>Clôture de caisse : le rapprochement quotidien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45920"/>
            <a:ext cx="5486400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450" b="1">
                <a:solidFill>
                  <a:srgbClr val="C8922A"/>
                </a:solidFill>
                <a:latin typeface="Segoe UI"/>
              </a:rPr>
              <a:t>—  </a:t>
            </a:r>
            <a:r>
              <a:rPr sz="1450" b="1">
                <a:solidFill>
                  <a:srgbClr val="0F172A"/>
                </a:solidFill>
                <a:latin typeface="Segoe UI"/>
              </a:rPr>
              <a:t>En fin de journée, </a:t>
            </a:r>
            <a:r>
              <a:rPr sz="1450" b="0">
                <a:solidFill>
                  <a:srgbClr val="64748B"/>
                </a:solidFill>
                <a:latin typeface="Segoe UI"/>
              </a:rPr>
              <a:t>l’agent compte les espèces réellement en caisse.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450" b="1">
                <a:solidFill>
                  <a:srgbClr val="C8922A"/>
                </a:solidFill>
                <a:latin typeface="Segoe UI"/>
              </a:rPr>
              <a:t>—  </a:t>
            </a:r>
            <a:r>
              <a:rPr sz="1450" b="1">
                <a:solidFill>
                  <a:srgbClr val="0F172A"/>
                </a:solidFill>
                <a:latin typeface="Segoe UI"/>
              </a:rPr>
              <a:t>L’application affiche </a:t>
            </a:r>
            <a:r>
              <a:rPr sz="1450" b="0">
                <a:solidFill>
                  <a:srgbClr val="64748B"/>
                </a:solidFill>
                <a:latin typeface="Segoe UI"/>
              </a:rPr>
              <a:t>le total théorique des encaissements espèces du jour.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450" b="1">
                <a:solidFill>
                  <a:srgbClr val="C8922A"/>
                </a:solidFill>
                <a:latin typeface="Segoe UI"/>
              </a:rPr>
              <a:t>—  </a:t>
            </a:r>
            <a:r>
              <a:rPr sz="1450" b="1">
                <a:solidFill>
                  <a:srgbClr val="0F172A"/>
                </a:solidFill>
                <a:latin typeface="Segoe UI"/>
              </a:rPr>
              <a:t>L’écart est calculé </a:t>
            </a:r>
            <a:r>
              <a:rPr sz="1450" b="0">
                <a:solidFill>
                  <a:srgbClr val="64748B"/>
                </a:solidFill>
                <a:latin typeface="Segoe UI"/>
              </a:rPr>
              <a:t>automatiquement et mis en évidence.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450" b="1">
                <a:solidFill>
                  <a:srgbClr val="C8922A"/>
                </a:solidFill>
                <a:latin typeface="Segoe UI"/>
              </a:rPr>
              <a:t>—  </a:t>
            </a:r>
            <a:r>
              <a:rPr sz="1450" b="1">
                <a:solidFill>
                  <a:srgbClr val="0F172A"/>
                </a:solidFill>
                <a:latin typeface="Segoe UI"/>
              </a:rPr>
              <a:t>Écart nul → </a:t>
            </a:r>
            <a:r>
              <a:rPr sz="1450" b="0">
                <a:solidFill>
                  <a:srgbClr val="64748B"/>
                </a:solidFill>
                <a:latin typeface="Segoe UI"/>
              </a:rPr>
              <a:t>caisse juste ✓.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450" b="1">
                <a:solidFill>
                  <a:srgbClr val="C8922A"/>
                </a:solidFill>
                <a:latin typeface="Segoe UI"/>
              </a:rPr>
              <a:t>—  </a:t>
            </a:r>
            <a:r>
              <a:rPr sz="1450" b="1">
                <a:solidFill>
                  <a:srgbClr val="0F172A"/>
                </a:solidFill>
                <a:latin typeface="Segoe UI"/>
              </a:rPr>
              <a:t>Écart négatif → </a:t>
            </a:r>
            <a:r>
              <a:rPr sz="1450" b="0">
                <a:solidFill>
                  <a:srgbClr val="64748B"/>
                </a:solidFill>
                <a:latin typeface="Segoe UI"/>
              </a:rPr>
              <a:t>alerte immédiate, à justifier.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450" b="1">
                <a:solidFill>
                  <a:srgbClr val="C8922A"/>
                </a:solidFill>
                <a:latin typeface="Segoe UI"/>
              </a:rPr>
              <a:t>—  </a:t>
            </a:r>
            <a:r>
              <a:rPr sz="1450" b="1">
                <a:solidFill>
                  <a:srgbClr val="0F172A"/>
                </a:solidFill>
                <a:latin typeface="Segoe UI"/>
              </a:rPr>
              <a:t>Historique conservé </a:t>
            </a:r>
            <a:r>
              <a:rPr sz="1450" b="0">
                <a:solidFill>
                  <a:srgbClr val="64748B"/>
                </a:solidFill>
                <a:latin typeface="Segoe UI"/>
              </a:rPr>
              <a:t>sur 90 jours, avec le nom du responsable.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675120" y="1783080"/>
            <a:ext cx="4846320" cy="374903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675120" y="1783080"/>
            <a:ext cx="4846320" cy="640080"/>
          </a:xfrm>
          <a:prstGeom prst="roundRect">
            <a:avLst>
              <a:gd name="adj" fmla="val 4000"/>
            </a:avLst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949440" y="1929384"/>
            <a:ext cx="4297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FFFFFF"/>
                </a:solidFill>
                <a:latin typeface="Segoe UI"/>
              </a:rPr>
              <a:t>Clôture de caisse — aujourd’hui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95160" y="2743200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64748B"/>
                </a:solidFill>
                <a:latin typeface="Segoe UI"/>
              </a:rPr>
              <a:t>Espèces théoriques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0" y="2743200"/>
            <a:ext cx="1920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500" b="1" i="0">
                <a:solidFill>
                  <a:srgbClr val="0F172A"/>
                </a:solidFill>
                <a:latin typeface="Segoe UI"/>
              </a:rPr>
              <a:t>265 000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95160" y="3383280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64748B"/>
                </a:solidFill>
                <a:latin typeface="Segoe UI"/>
              </a:rPr>
              <a:t>Caisse comptée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0" y="3383280"/>
            <a:ext cx="1920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500" b="1" i="0">
                <a:solidFill>
                  <a:srgbClr val="0F172A"/>
                </a:solidFill>
                <a:latin typeface="Segoe UI"/>
              </a:rPr>
              <a:t>260 000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995160" y="4023360"/>
            <a:ext cx="4206240" cy="1905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95160" y="4251960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64748B"/>
                </a:solidFill>
                <a:latin typeface="Segoe UI"/>
              </a:rPr>
              <a:t>Écart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26880" y="4251960"/>
            <a:ext cx="1920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500" b="1" i="0">
                <a:solidFill>
                  <a:srgbClr val="DC2626"/>
                </a:solidFill>
                <a:latin typeface="Segoe UI"/>
              </a:rPr>
              <a:t>− 5 000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95160" y="4846320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1">
                <a:solidFill>
                  <a:srgbClr val="DC2626"/>
                </a:solidFill>
                <a:latin typeface="Segoe UI"/>
              </a:rPr>
              <a:t>⚠ Manque à justifier — tracé au journal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094415" y="6400800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64748B"/>
                </a:solidFill>
                <a:latin typeface="Segoe UI"/>
              </a:rPr>
              <a:t>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0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50800"/>
          </a:xfrm>
          <a:prstGeom prst="rect">
            <a:avLst/>
          </a:prstGeom>
          <a:solidFill>
            <a:srgbClr val="C892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256032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C8922A"/>
                </a:solidFill>
                <a:latin typeface="Segoe UI"/>
              </a:rPr>
              <a:t>RECOUVREMENT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4864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Segoe UI"/>
              </a:rPr>
              <a:t>Contrat pédagogique : le solde qui démasque les fuites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46304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i="0">
                <a:solidFill>
                  <a:srgbClr val="0F172A"/>
                </a:solidFill>
                <a:latin typeface="Segoe UI"/>
              </a:rPr>
              <a:t>À l’inscription, on saisit le forfait convenu. L’application calcule en permanence :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057400"/>
            <a:ext cx="10881360" cy="868680"/>
          </a:xfrm>
          <a:prstGeom prst="roundRect">
            <a:avLst>
              <a:gd name="adj" fmla="val 10000"/>
            </a:avLst>
          </a:prstGeom>
          <a:solidFill>
            <a:srgbClr val="F5F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212848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1" i="0">
                <a:solidFill>
                  <a:srgbClr val="1E3A5F"/>
                </a:solidFill>
                <a:latin typeface="Segoe UI"/>
              </a:rPr>
              <a:t>Solde restant   =   Forfait convenu   −   Paiements réellement encaissés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3246120"/>
            <a:ext cx="10881360" cy="457200"/>
          </a:xfrm>
          <a:prstGeom prst="rect">
            <a:avLst/>
          </a:prstGeom>
          <a:solidFill>
            <a:srgbClr val="10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337560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Segoe UI"/>
              </a:rPr>
              <a:t>Élève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94960" y="3337560"/>
            <a:ext cx="21945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Segoe UI"/>
              </a:rPr>
              <a:t>Forfait dû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89520" y="3337560"/>
            <a:ext cx="2011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Segoe UI"/>
              </a:rPr>
              <a:t>Payé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3337560"/>
            <a:ext cx="2103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Segoe UI"/>
              </a:rPr>
              <a:t>Reste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3703320"/>
            <a:ext cx="1088136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381304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0F172A"/>
                </a:solidFill>
                <a:latin typeface="Segoe UI"/>
              </a:rPr>
              <a:t>OBAME Grâce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94960" y="3813048"/>
            <a:ext cx="21945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0F172A"/>
                </a:solidFill>
                <a:latin typeface="Segoe UI"/>
              </a:rPr>
              <a:t>250 000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589520" y="3813048"/>
            <a:ext cx="2011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0E9F6E"/>
                </a:solidFill>
                <a:latin typeface="Segoe UI"/>
              </a:rPr>
              <a:t>250 000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0" y="3813048"/>
            <a:ext cx="2103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0E9F6E"/>
                </a:solidFill>
                <a:latin typeface="Segoe UI"/>
              </a:rPr>
              <a:t>Soldé ✓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4206240"/>
            <a:ext cx="10881360" cy="502920"/>
          </a:xfrm>
          <a:prstGeom prst="rect">
            <a:avLst/>
          </a:prstGeom>
          <a:solidFill>
            <a:srgbClr val="FD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" y="431596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0F172A"/>
                </a:solidFill>
                <a:latin typeface="Segoe UI"/>
              </a:rPr>
              <a:t>KOMBILA Patrick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94960" y="4315968"/>
            <a:ext cx="21945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0F172A"/>
                </a:solidFill>
                <a:latin typeface="Segoe UI"/>
              </a:rPr>
              <a:t>250 000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89520" y="4315968"/>
            <a:ext cx="2011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0E9F6E"/>
                </a:solidFill>
                <a:latin typeface="Segoe UI"/>
              </a:rPr>
              <a:t>200 000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01200" y="4315968"/>
            <a:ext cx="2103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DC2626"/>
                </a:solidFill>
                <a:latin typeface="Segoe UI"/>
              </a:rPr>
              <a:t>50 000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5074920"/>
            <a:ext cx="1088136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0F172A"/>
                </a:solidFill>
                <a:latin typeface="Segoe UI"/>
              </a:rPr>
              <a:t>Si l’élève affirme avoir tout payé mais apparaît « débiteur », c’est qu’une partie du cash n’a jamais été enregistrée : </a:t>
            </a:r>
            <a:r>
              <a:rPr sz="1400" b="1" i="0">
                <a:solidFill>
                  <a:srgbClr val="DC2626"/>
                </a:solidFill>
                <a:latin typeface="Segoe UI"/>
              </a:rPr>
              <a:t>le solde devient un piège pour le détournement.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94415" y="6400800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64748B"/>
                </a:solidFill>
                <a:latin typeface="Segoe UI"/>
              </a:rPr>
              <a:t>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0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50800"/>
          </a:xfrm>
          <a:prstGeom prst="rect">
            <a:avLst/>
          </a:prstGeom>
          <a:solidFill>
            <a:srgbClr val="C892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256032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C8922A"/>
                </a:solidFill>
                <a:latin typeface="Segoe UI"/>
              </a:rPr>
              <a:t>SÉCURITÉ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4864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Segoe UI"/>
              </a:rPr>
              <a:t>Rôles et cloisonnement des accès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37360"/>
            <a:ext cx="5257800" cy="1874519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40080" y="1737360"/>
            <a:ext cx="82296" cy="1874519"/>
          </a:xfrm>
          <a:prstGeom prst="roundRect">
            <a:avLst>
              <a:gd name="adj" fmla="val 50000"/>
            </a:avLst>
          </a:prstGeom>
          <a:solidFill>
            <a:srgbClr val="C892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883664"/>
            <a:ext cx="4846320" cy="16001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50" b="1">
                <a:solidFill>
                  <a:srgbClr val="1E3A5F"/>
                </a:solidFill>
                <a:latin typeface="Segoe UI"/>
              </a:rPr>
              <a:t>👑  Administrateur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64748B"/>
                </a:solidFill>
                <a:latin typeface="Segoe UI"/>
              </a:rPr>
              <a:t>Accès complet : élèves, paiements, caisse, impayés, journal d’audit, statistiques. Les opérations d’argent lui sont réservées.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794760"/>
            <a:ext cx="5257800" cy="1874519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40080" y="3794760"/>
            <a:ext cx="82296" cy="1874519"/>
          </a:xfrm>
          <a:prstGeom prst="roundRect">
            <a:avLst>
              <a:gd name="adj" fmla="val 50000"/>
            </a:avLst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3941064"/>
            <a:ext cx="4846320" cy="16001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50" b="1">
                <a:solidFill>
                  <a:srgbClr val="1E3A5F"/>
                </a:solidFill>
                <a:latin typeface="Segoe UI"/>
              </a:rPr>
              <a:t>👨‍🏫  Moniteur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64748B"/>
                </a:solidFill>
                <a:latin typeface="Segoe UI"/>
              </a:rPr>
              <a:t>Accède à ses élèves, ses leçons et ses examens uniquement. Aucun accès aux paiements, à la caisse ni au journal.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640" y="1737360"/>
            <a:ext cx="5257800" cy="3931920"/>
          </a:xfrm>
          <a:prstGeom prst="roundRect">
            <a:avLst>
              <a:gd name="adj" fmla="val 5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0" y="2011680"/>
            <a:ext cx="466344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1E3A5F"/>
                </a:solidFill>
                <a:latin typeface="Segoe UI"/>
              </a:rPr>
              <a:t>Principes de sécurité</a:t>
            </a:r>
          </a:p>
          <a:p>
            <a:pPr algn="l">
              <a:lnSpc>
                <a:spcPct val="125000"/>
              </a:lnSpc>
            </a:pPr>
            <a:r>
              <a:rPr sz="600" b="0" i="0">
                <a:solidFill>
                  <a:srgbClr val="FFFFFF"/>
                </a:solidFill>
                <a:latin typeface="Segoe UI"/>
              </a:rPr>
              <a:t> </a:t>
            </a:r>
          </a:p>
          <a:p>
            <a:pPr algn="l">
              <a:lnSpc>
                <a:spcPct val="125000"/>
              </a:lnSpc>
            </a:pPr>
            <a:r>
              <a:rPr sz="1350" b="0" i="0">
                <a:solidFill>
                  <a:srgbClr val="0F172A"/>
                </a:solidFill>
                <a:latin typeface="Segoe UI"/>
              </a:rPr>
              <a:t>•  Mots de passe chiffrés (scrypt)</a:t>
            </a:r>
          </a:p>
          <a:p>
            <a:pPr algn="l">
              <a:lnSpc>
                <a:spcPct val="125000"/>
              </a:lnSpc>
            </a:pPr>
            <a:r>
              <a:rPr sz="1350" b="0" i="0">
                <a:solidFill>
                  <a:srgbClr val="0F172A"/>
                </a:solidFill>
                <a:latin typeface="Segoe UI"/>
              </a:rPr>
              <a:t>•  Connexion par jeton signé (JWT)</a:t>
            </a:r>
          </a:p>
          <a:p>
            <a:pPr algn="l">
              <a:lnSpc>
                <a:spcPct val="125000"/>
              </a:lnSpc>
            </a:pPr>
            <a:r>
              <a:rPr sz="1350" b="0" i="0">
                <a:solidFill>
                  <a:srgbClr val="0F172A"/>
                </a:solidFill>
                <a:latin typeface="Segoe UI"/>
              </a:rPr>
              <a:t>•  Routes financières verrouillées</a:t>
            </a:r>
          </a:p>
          <a:p>
            <a:pPr algn="l">
              <a:lnSpc>
                <a:spcPct val="125000"/>
              </a:lnSpc>
            </a:pPr>
            <a:r>
              <a:rPr sz="1350" b="0" i="0">
                <a:solidFill>
                  <a:srgbClr val="0F172A"/>
                </a:solidFill>
                <a:latin typeface="Segoe UI"/>
              </a:rPr>
              <a:t>•  Paiement Mobile Money revérifié serveur</a:t>
            </a:r>
          </a:p>
          <a:p>
            <a:pPr algn="l">
              <a:lnSpc>
                <a:spcPct val="125000"/>
              </a:lnSpc>
            </a:pPr>
            <a:r>
              <a:rPr sz="1350" b="0" i="0">
                <a:solidFill>
                  <a:srgbClr val="0F172A"/>
                </a:solidFill>
                <a:latin typeface="Segoe UI"/>
              </a:rPr>
              <a:t>•  Actions sensibles journalisées</a:t>
            </a:r>
          </a:p>
          <a:p>
            <a:pPr algn="l">
              <a:lnSpc>
                <a:spcPct val="125000"/>
              </a:lnSpc>
            </a:pPr>
            <a:r>
              <a:rPr sz="1350" b="0" i="0">
                <a:solidFill>
                  <a:srgbClr val="0F172A"/>
                </a:solidFill>
                <a:latin typeface="Segoe UI"/>
              </a:rPr>
              <a:t>•  Suppression remplacée par annulation tracée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094415" y="6400800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64748B"/>
                </a:solidFill>
                <a:latin typeface="Segoe UI"/>
              </a:rPr>
              <a:t>11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0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50800"/>
          </a:xfrm>
          <a:prstGeom prst="rect">
            <a:avLst/>
          </a:prstGeom>
          <a:solidFill>
            <a:srgbClr val="C892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256032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C8922A"/>
                </a:solidFill>
                <a:latin typeface="Segoe UI"/>
              </a:rPr>
              <a:t>MISE EN LIGNE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4864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Segoe UI"/>
              </a:rPr>
              <a:t>Déjà en production, accessible partout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37360"/>
            <a:ext cx="5257800" cy="160020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40080" y="1737360"/>
            <a:ext cx="82296" cy="1600200"/>
          </a:xfrm>
          <a:prstGeom prst="roundRect">
            <a:avLst>
              <a:gd name="adj" fmla="val 50000"/>
            </a:avLst>
          </a:prstGeom>
          <a:solidFill>
            <a:srgbClr val="0E9F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883664"/>
            <a:ext cx="4846320" cy="1325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50" b="1">
                <a:solidFill>
                  <a:srgbClr val="1E3A5F"/>
                </a:solidFill>
                <a:latin typeface="Segoe UI"/>
              </a:rPr>
              <a:t>🌐  En ligne 24/7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64748B"/>
                </a:solidFill>
                <a:latin typeface="Segoe UI"/>
              </a:rPr>
              <a:t>Hébergé sur Render, mises à jour automatiques à chaque évolution du code.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474720"/>
            <a:ext cx="5257800" cy="160020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40080" y="3474720"/>
            <a:ext cx="82296" cy="1600200"/>
          </a:xfrm>
          <a:prstGeom prst="roundRect">
            <a:avLst>
              <a:gd name="adj" fmla="val 50000"/>
            </a:avLst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3621024"/>
            <a:ext cx="4846320" cy="1325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50" b="1">
                <a:solidFill>
                  <a:srgbClr val="1E3A5F"/>
                </a:solidFill>
                <a:latin typeface="Segoe UI"/>
              </a:rPr>
              <a:t>📱  Multi-supports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64748B"/>
                </a:solidFill>
                <a:latin typeface="Segoe UI"/>
              </a:rPr>
              <a:t>Utilisable au bureau sur ordinateur et sur téléphone, sans installation.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640" y="1737360"/>
            <a:ext cx="5257800" cy="3337560"/>
          </a:xfrm>
          <a:prstGeom prst="roundRect">
            <a:avLst>
              <a:gd name="adj" fmla="val 5000"/>
            </a:avLst>
          </a:prstGeom>
          <a:solidFill>
            <a:srgbClr val="10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0" y="2011680"/>
            <a:ext cx="466344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400" b="1" i="0">
                <a:solidFill>
                  <a:srgbClr val="C8922A"/>
                </a:solidFill>
                <a:latin typeface="Segoe UI"/>
              </a:rPr>
              <a:t>Deux entrées, un seul système</a:t>
            </a:r>
          </a:p>
          <a:p>
            <a:pPr algn="l">
              <a:lnSpc>
                <a:spcPct val="108000"/>
              </a:lnSpc>
            </a:pPr>
            <a:r>
              <a:rPr sz="400" b="0" i="0">
                <a:solidFill>
                  <a:srgbClr val="FFFFFF"/>
                </a:solidFill>
                <a:latin typeface="Segoe UI"/>
              </a:rPr>
              <a:t> </a:t>
            </a:r>
          </a:p>
          <a:p>
            <a:pPr algn="l">
              <a:lnSpc>
                <a:spcPct val="108000"/>
              </a:lnSpc>
            </a:pPr>
            <a:r>
              <a:rPr sz="1200" b="0" i="0">
                <a:solidFill>
                  <a:srgbClr val="8A9BB2"/>
                </a:solidFill>
                <a:latin typeface="Segoe UI"/>
              </a:rPr>
              <a:t>Vitrine publique (clients)</a:t>
            </a:r>
          </a:p>
          <a:p>
            <a:pPr algn="l">
              <a:lnSpc>
                <a:spcPct val="108000"/>
              </a:lnSpc>
            </a:pPr>
            <a:r>
              <a:rPr sz="1400" b="1" i="0">
                <a:solidFill>
                  <a:srgbClr val="FFFFFF"/>
                </a:solidFill>
                <a:latin typeface="Segoe UI"/>
              </a:rPr>
              <a:t>auto-ecole-bethel.onrender.com</a:t>
            </a:r>
          </a:p>
          <a:p>
            <a:pPr algn="l">
              <a:lnSpc>
                <a:spcPct val="108000"/>
              </a:lnSpc>
            </a:pPr>
            <a:r>
              <a:rPr sz="400" b="0" i="0">
                <a:solidFill>
                  <a:srgbClr val="FFFFFF"/>
                </a:solidFill>
                <a:latin typeface="Segoe UI"/>
              </a:rPr>
              <a:t> </a:t>
            </a:r>
          </a:p>
          <a:p>
            <a:pPr algn="l">
              <a:lnSpc>
                <a:spcPct val="108000"/>
              </a:lnSpc>
            </a:pPr>
            <a:r>
              <a:rPr sz="1200" b="0" i="0">
                <a:solidFill>
                  <a:srgbClr val="8A9BB2"/>
                </a:solidFill>
                <a:latin typeface="Segoe UI"/>
              </a:rPr>
              <a:t>Espace de gestion (personnel)</a:t>
            </a:r>
          </a:p>
          <a:p>
            <a:pPr algn="l">
              <a:lnSpc>
                <a:spcPct val="108000"/>
              </a:lnSpc>
            </a:pPr>
            <a:r>
              <a:rPr sz="1400" b="1" i="0">
                <a:solidFill>
                  <a:srgbClr val="FFFFFF"/>
                </a:solidFill>
                <a:latin typeface="Segoe UI"/>
              </a:rPr>
              <a:t>…onrender.com/app</a:t>
            </a:r>
          </a:p>
          <a:p>
            <a:pPr algn="l">
              <a:lnSpc>
                <a:spcPct val="108000"/>
              </a:lnSpc>
            </a:pPr>
            <a:r>
              <a:rPr sz="400" b="0" i="0">
                <a:solidFill>
                  <a:srgbClr val="FFFFFF"/>
                </a:solidFill>
                <a:latin typeface="Segoe UI"/>
              </a:rPr>
              <a:t> </a:t>
            </a:r>
          </a:p>
          <a:p>
            <a:pPr algn="l">
              <a:lnSpc>
                <a:spcPct val="108000"/>
              </a:lnSpc>
            </a:pPr>
            <a:r>
              <a:rPr sz="1250" b="0" i="0">
                <a:solidFill>
                  <a:srgbClr val="B6C4D6"/>
                </a:solidFill>
                <a:latin typeface="Segoe UI"/>
              </a:rPr>
              <a:t>Démo : admin@autoecole.ga</a:t>
            </a:r>
          </a:p>
          <a:p>
            <a:pPr algn="l">
              <a:lnSpc>
                <a:spcPct val="108000"/>
              </a:lnSpc>
            </a:pPr>
            <a:r>
              <a:rPr sz="1200" b="0" i="0">
                <a:solidFill>
                  <a:srgbClr val="B6C4D6"/>
                </a:solidFill>
                <a:latin typeface="Segoe UI"/>
              </a:rPr>
              <a:t>mot de passe : admin2026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094415" y="6400800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64748B"/>
                </a:solidFill>
                <a:latin typeface="Segoe UI"/>
              </a:rPr>
              <a:t>12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0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50800"/>
          </a:xfrm>
          <a:prstGeom prst="rect">
            <a:avLst/>
          </a:prstGeom>
          <a:solidFill>
            <a:srgbClr val="C892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256032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C8922A"/>
                </a:solidFill>
                <a:latin typeface="Segoe UI"/>
              </a:rPr>
              <a:t>PROCHAINES ÉTAPES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4864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Segoe UI"/>
              </a:rPr>
              <a:t>Ce qui peut encore enrichir le projet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45920"/>
            <a:ext cx="5394960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1300"/>
              </a:spcAft>
            </a:pPr>
            <a:r>
              <a:rPr sz="1450" b="1">
                <a:solidFill>
                  <a:srgbClr val="C8922A"/>
                </a:solidFill>
                <a:latin typeface="Segoe UI"/>
              </a:rPr>
              <a:t>—  </a:t>
            </a:r>
            <a:r>
              <a:rPr sz="1450" b="1">
                <a:solidFill>
                  <a:srgbClr val="0F172A"/>
                </a:solidFill>
                <a:latin typeface="Segoe UI"/>
              </a:rPr>
              <a:t>Image de la page d’accueil. </a:t>
            </a:r>
            <a:r>
              <a:rPr sz="1450" b="0">
                <a:solidFill>
                  <a:srgbClr val="64748B"/>
                </a:solidFill>
                <a:latin typeface="Segoe UI"/>
              </a:rPr>
              <a:t>Ajouter une photo de bannière et le vrai numéro WhatsApp de l’école.</a:t>
            </a:r>
          </a:p>
          <a:p>
            <a:pPr>
              <a:lnSpc>
                <a:spcPct val="105000"/>
              </a:lnSpc>
              <a:spcAft>
                <a:spcPts val="1300"/>
              </a:spcAft>
            </a:pPr>
            <a:r>
              <a:rPr sz="1450" b="1">
                <a:solidFill>
                  <a:srgbClr val="C8922A"/>
                </a:solidFill>
                <a:latin typeface="Segoe UI"/>
              </a:rPr>
              <a:t>—  </a:t>
            </a:r>
            <a:r>
              <a:rPr sz="1450" b="1">
                <a:solidFill>
                  <a:srgbClr val="0F172A"/>
                </a:solidFill>
                <a:latin typeface="Segoe UI"/>
              </a:rPr>
              <a:t>Stockage persistant. </a:t>
            </a:r>
            <a:r>
              <a:rPr sz="1450" b="0">
                <a:solidFill>
                  <a:srgbClr val="64748B"/>
                </a:solidFill>
                <a:latin typeface="Segoe UI"/>
              </a:rPr>
              <a:t>Passer à un hébergement avec disque pour conserver durablement le journal et les données.</a:t>
            </a:r>
          </a:p>
          <a:p>
            <a:pPr>
              <a:lnSpc>
                <a:spcPct val="105000"/>
              </a:lnSpc>
              <a:spcAft>
                <a:spcPts val="1300"/>
              </a:spcAft>
            </a:pPr>
            <a:r>
              <a:rPr sz="1450" b="1">
                <a:solidFill>
                  <a:srgbClr val="C8922A"/>
                </a:solidFill>
                <a:latin typeface="Segoe UI"/>
              </a:rPr>
              <a:t>—  </a:t>
            </a:r>
            <a:r>
              <a:rPr sz="1450" b="1">
                <a:solidFill>
                  <a:srgbClr val="0F172A"/>
                </a:solidFill>
                <a:latin typeface="Segoe UI"/>
              </a:rPr>
              <a:t>Activation des paiements en ligne. </a:t>
            </a:r>
            <a:r>
              <a:rPr sz="1450" b="0">
                <a:solidFill>
                  <a:srgbClr val="64748B"/>
                </a:solidFill>
                <a:latin typeface="Segoe UI"/>
              </a:rPr>
              <a:t>Intégrer les clés Mobile Money (Airtel / Moov) en production.</a:t>
            </a:r>
          </a:p>
          <a:p>
            <a:pPr>
              <a:lnSpc>
                <a:spcPct val="105000"/>
              </a:lnSpc>
              <a:spcAft>
                <a:spcPts val="1300"/>
              </a:spcAft>
            </a:pPr>
            <a:r>
              <a:rPr sz="1450" b="1">
                <a:solidFill>
                  <a:srgbClr val="C8922A"/>
                </a:solidFill>
                <a:latin typeface="Segoe UI"/>
              </a:rPr>
              <a:t>—  </a:t>
            </a:r>
            <a:r>
              <a:rPr sz="1450" b="1">
                <a:solidFill>
                  <a:srgbClr val="0F172A"/>
                </a:solidFill>
                <a:latin typeface="Segoe UI"/>
              </a:rPr>
              <a:t>Renforcer les accès. </a:t>
            </a:r>
            <a:r>
              <a:rPr sz="1450" b="0">
                <a:solidFill>
                  <a:srgbClr val="64748B"/>
                </a:solidFill>
                <a:latin typeface="Segoe UI"/>
              </a:rPr>
              <a:t>Changer le mot de passe administrateur par défaut.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0" y="1737360"/>
            <a:ext cx="5120640" cy="3977639"/>
          </a:xfrm>
          <a:prstGeom prst="roundRect">
            <a:avLst>
              <a:gd name="adj" fmla="val 5000"/>
            </a:avLst>
          </a:prstGeom>
          <a:solidFill>
            <a:srgbClr val="F5F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720840" y="2011680"/>
            <a:ext cx="457200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1" i="0">
                <a:solidFill>
                  <a:srgbClr val="1E3A5F"/>
                </a:solidFill>
                <a:latin typeface="Segoe UI"/>
              </a:rPr>
              <a:t>Pistes complémentaires</a:t>
            </a:r>
          </a:p>
          <a:p>
            <a:pPr algn="l">
              <a:lnSpc>
                <a:spcPct val="130000"/>
              </a:lnSpc>
            </a:pPr>
            <a:r>
              <a:rPr sz="600" b="0" i="0">
                <a:solidFill>
                  <a:srgbClr val="FFFFFF"/>
                </a:solidFill>
                <a:latin typeface="Segoe UI"/>
              </a:rPr>
              <a:t> 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0F172A"/>
                </a:solidFill>
                <a:latin typeface="Segoe UI"/>
              </a:rPr>
              <a:t>•  Suivi carburant &amp; entretien véhicules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0F172A"/>
                </a:solidFill>
                <a:latin typeface="Segoe UI"/>
              </a:rPr>
              <a:t>•  Relances automatiques des impayés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0F172A"/>
                </a:solidFill>
                <a:latin typeface="Segoe UI"/>
              </a:rPr>
              <a:t>•  Progression pédagogique par élève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0F172A"/>
                </a:solidFill>
                <a:latin typeface="Segoe UI"/>
              </a:rPr>
              <a:t>•  Export comptable (Excel)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0F172A"/>
                </a:solidFill>
                <a:latin typeface="Segoe UI"/>
              </a:rPr>
              <a:t>•  Attestations &amp; documents PDF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94415" y="6400800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64748B"/>
                </a:solidFill>
                <a:latin typeface="Segoe UI"/>
              </a:rPr>
              <a:t>13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0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3200400"/>
            <a:ext cx="2926080" cy="38100"/>
          </a:xfrm>
          <a:prstGeom prst="rect">
            <a:avLst/>
          </a:prstGeom>
          <a:solidFill>
            <a:srgbClr val="C892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011680"/>
            <a:ext cx="1828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0" i="0">
                <a:solidFill>
                  <a:srgbClr val="FFFFFF"/>
                </a:solidFill>
                <a:latin typeface="Segoe UI"/>
              </a:rPr>
              <a:t>🚗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38328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 i="0">
                <a:solidFill>
                  <a:srgbClr val="FFFFFF"/>
                </a:solidFill>
                <a:latin typeface="Segoe UI"/>
              </a:rPr>
              <a:t>Un outil de gestion — et de confiance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48056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 i="0">
                <a:solidFill>
                  <a:srgbClr val="C8922A"/>
                </a:solidFill>
                <a:latin typeface="Segoe UI"/>
              </a:rPr>
              <a:t>Chaque franc traçable · chaque action attribuable · chaque solde vérifiable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585216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8A9BB2"/>
                </a:solidFill>
                <a:latin typeface="Segoe UI"/>
              </a:rPr>
              <a:t>Auto-École Béthel · Lambaréné, Gabon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